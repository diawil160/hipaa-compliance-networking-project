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02_87987376.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8" r:id="rId1"/>
  </p:sldMasterIdLst>
  <p:notesMasterIdLst>
    <p:notesMasterId r:id="rId14"/>
  </p:notesMasterIdLst>
  <p:sldIdLst>
    <p:sldId id="256" r:id="rId2"/>
    <p:sldId id="257" r:id="rId3"/>
    <p:sldId id="260" r:id="rId4"/>
    <p:sldId id="258" r:id="rId5"/>
    <p:sldId id="259" r:id="rId6"/>
    <p:sldId id="265" r:id="rId7"/>
    <p:sldId id="267" r:id="rId8"/>
    <p:sldId id="263" r:id="rId9"/>
    <p:sldId id="264" r:id="rId10"/>
    <p:sldId id="268" r:id="rId11"/>
    <p:sldId id="261"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D5A4B9AA-3B8D-FA28-16ED-3CCE3E6C4046}" name="NV-Williams, Diamond (Northern Virginia)" initials="NV" userId="S::diawil9725@students.ecpi.edu::44886b97-fe6f-4246-9197-ea3554076f9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DF14C1-3F9C-4B4D-BCEC-AE0D50B71B6A}" v="824" dt="2026-01-24T00:47:57.282"/>
    <p1510:client id="{132A18CA-B6EA-4906-B826-43F5A0DD1519}" v="89" dt="2026-01-24T01:01:12.462"/>
    <p1510:client id="{5C06D1B4-64A1-76D5-5A40-20527CDB6377}" v="30" dt="2026-01-23T23:42:04.840"/>
    <p1510:client id="{82C2E765-7018-3E7C-D34F-33140C238BDB}" v="6" dt="2026-01-24T18:32:46.361"/>
    <p1510:client id="{94138790-1BAD-0379-8D95-B03FF5F16001}" v="327" dt="2026-01-24T03:51:37.015"/>
    <p1510:client id="{9DEE7569-8B10-47E2-B6E7-5EE41C728136}" v="1" dt="2026-01-24T01:36:58.564"/>
    <p1510:client id="{AA1B6D1C-7686-3E29-5EFF-554D507C6CDA}" v="403" dt="2026-01-24T13:08:32.945"/>
    <p1510:client id="{C02022D5-C33B-3FCC-74DA-A48DE8044909}" v="11" dt="2026-01-24T01:02:33.797"/>
    <p1510:client id="{C4C3FADD-108D-9DE7-1BE8-EDA136C64729}" v="67" dt="2026-01-24T15:33:07.098"/>
    <p1510:client id="{DD5F80F3-42A9-4174-342B-AB46A4C3A0BA}" v="753" dt="2026-01-24T17:49:49.795"/>
    <p1510:client id="{F8DBAA93-D1D7-C776-6BF6-FFEF80BF823C}" v="87" dt="2026-01-24T18:30:46.8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omments/modernComment_102_87987376.xml><?xml version="1.0" encoding="utf-8"?>
<p188:cmLst xmlns:a="http://schemas.openxmlformats.org/drawingml/2006/main" xmlns:r="http://schemas.openxmlformats.org/officeDocument/2006/relationships" xmlns:p188="http://schemas.microsoft.com/office/powerpoint/2018/8/main">
  <p188:cm id="{10257860-9BB2-4055-81F4-642F5FB21CE3}" authorId="{D5A4B9AA-3B8D-FA28-16ED-3CCE3E6C4046}" created="2026-01-23T23:28:12.055">
    <pc:sldMkLst xmlns:pc="http://schemas.microsoft.com/office/powerpoint/2013/main/command">
      <pc:docMk/>
      <pc:sldMk cId="2274915190" sldId="258"/>
    </pc:sldMkLst>
    <p188:txBody>
      <a:bodyPr/>
      <a:lstStyle/>
      <a:p>
        <a:r>
          <a:rPr lang="en-US"/>
          <a:t>We need  3 wifi routers, 2-3 APs, </a:t>
        </a:r>
      </a:p>
    </p188:txBody>
  </p188:cm>
</p188:cmLst>
</file>

<file path=ppt/diagrams/_rels/data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9B97EF6-E6BC-4844-BC32-1D8269A00FD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D4D450C-3D04-427C-B740-4951ACF4A6C2}">
      <dgm:prSet/>
      <dgm:spPr/>
      <dgm:t>
        <a:bodyPr/>
        <a:lstStyle/>
        <a:p>
          <a:pPr>
            <a:lnSpc>
              <a:spcPct val="100000"/>
            </a:lnSpc>
          </a:pPr>
          <a:r>
            <a:rPr lang="en-US"/>
            <a:t>This could be a two-phase plan due to having to order new devices. For example:</a:t>
          </a:r>
        </a:p>
      </dgm:t>
    </dgm:pt>
    <dgm:pt modelId="{74F54627-DF0D-41D7-9C29-16FAEC35D650}" type="parTrans" cxnId="{0EE46617-8803-420A-AE59-56196C329282}">
      <dgm:prSet/>
      <dgm:spPr/>
      <dgm:t>
        <a:bodyPr/>
        <a:lstStyle/>
        <a:p>
          <a:endParaRPr lang="en-US"/>
        </a:p>
      </dgm:t>
    </dgm:pt>
    <dgm:pt modelId="{7E4DF558-3988-4FF2-A5D4-DC59B07C8471}" type="sibTrans" cxnId="{0EE46617-8803-420A-AE59-56196C329282}">
      <dgm:prSet/>
      <dgm:spPr/>
      <dgm:t>
        <a:bodyPr/>
        <a:lstStyle/>
        <a:p>
          <a:endParaRPr lang="en-US"/>
        </a:p>
      </dgm:t>
    </dgm:pt>
    <dgm:pt modelId="{04798D97-6C3C-4197-8BCB-6A13CF9579C6}">
      <dgm:prSet/>
      <dgm:spPr/>
      <dgm:t>
        <a:bodyPr/>
        <a:lstStyle/>
        <a:p>
          <a:pPr>
            <a:lnSpc>
              <a:spcPct val="100000"/>
            </a:lnSpc>
          </a:pPr>
          <a:r>
            <a:rPr lang="en-US"/>
            <a:t>There is a 4–12-week lead time on Cisco ASA firewalls.</a:t>
          </a:r>
        </a:p>
      </dgm:t>
    </dgm:pt>
    <dgm:pt modelId="{8CD5F09E-89BC-494B-9349-9552EF1632E0}" type="parTrans" cxnId="{C3939C19-D99F-4358-9B61-71431C4F54B2}">
      <dgm:prSet/>
      <dgm:spPr/>
      <dgm:t>
        <a:bodyPr/>
        <a:lstStyle/>
        <a:p>
          <a:endParaRPr lang="en-US"/>
        </a:p>
      </dgm:t>
    </dgm:pt>
    <dgm:pt modelId="{733D5429-1350-4394-9E97-B9C240276F6E}" type="sibTrans" cxnId="{C3939C19-D99F-4358-9B61-71431C4F54B2}">
      <dgm:prSet/>
      <dgm:spPr/>
      <dgm:t>
        <a:bodyPr/>
        <a:lstStyle/>
        <a:p>
          <a:endParaRPr lang="en-US"/>
        </a:p>
      </dgm:t>
    </dgm:pt>
    <dgm:pt modelId="{0DB44EEC-92C0-4334-8FE7-A667213EFCFF}">
      <dgm:prSet/>
      <dgm:spPr/>
      <dgm:t>
        <a:bodyPr/>
        <a:lstStyle/>
        <a:p>
          <a:pPr>
            <a:lnSpc>
              <a:spcPct val="100000"/>
            </a:lnSpc>
          </a:pPr>
          <a:r>
            <a:rPr lang="en-US"/>
            <a:t>And a 4-6-week lead time on Cisco ISR 4331 routers.</a:t>
          </a:r>
        </a:p>
      </dgm:t>
    </dgm:pt>
    <dgm:pt modelId="{6C0D2146-61A9-4137-BB00-121F83F93CD4}" type="parTrans" cxnId="{59F4043A-81EC-4A2A-8364-0CE1CB91650D}">
      <dgm:prSet/>
      <dgm:spPr/>
      <dgm:t>
        <a:bodyPr/>
        <a:lstStyle/>
        <a:p>
          <a:endParaRPr lang="en-US"/>
        </a:p>
      </dgm:t>
    </dgm:pt>
    <dgm:pt modelId="{C72196FD-EA5C-4876-8D75-019D3813FC13}" type="sibTrans" cxnId="{59F4043A-81EC-4A2A-8364-0CE1CB91650D}">
      <dgm:prSet/>
      <dgm:spPr/>
      <dgm:t>
        <a:bodyPr/>
        <a:lstStyle/>
        <a:p>
          <a:endParaRPr lang="en-US"/>
        </a:p>
      </dgm:t>
    </dgm:pt>
    <dgm:pt modelId="{1CFE2F78-2D36-4C22-AFCB-D7815EC1238D}">
      <dgm:prSet/>
      <dgm:spPr/>
      <dgm:t>
        <a:bodyPr/>
        <a:lstStyle/>
        <a:p>
          <a:pPr>
            <a:lnSpc>
              <a:spcPct val="100000"/>
            </a:lnSpc>
          </a:pPr>
          <a:r>
            <a:rPr lang="en-US"/>
            <a:t>We could install some software upgrades in the meantime, but we will have to come back and install the physical hardware when it all arrives or wait and make all the upgrades all at once. </a:t>
          </a:r>
        </a:p>
      </dgm:t>
    </dgm:pt>
    <dgm:pt modelId="{41E452CB-7E56-4EDC-8E8E-8641B2957094}" type="parTrans" cxnId="{6F33B0FC-0F5B-4900-AFAE-63C1084B650D}">
      <dgm:prSet/>
      <dgm:spPr/>
      <dgm:t>
        <a:bodyPr/>
        <a:lstStyle/>
        <a:p>
          <a:endParaRPr lang="en-US"/>
        </a:p>
      </dgm:t>
    </dgm:pt>
    <dgm:pt modelId="{94B0E3D5-1100-4143-8812-A69E042FB438}" type="sibTrans" cxnId="{6F33B0FC-0F5B-4900-AFAE-63C1084B650D}">
      <dgm:prSet/>
      <dgm:spPr/>
      <dgm:t>
        <a:bodyPr/>
        <a:lstStyle/>
        <a:p>
          <a:endParaRPr lang="en-US"/>
        </a:p>
      </dgm:t>
    </dgm:pt>
    <dgm:pt modelId="{B2C9D581-DD1E-49F6-B7A6-9D53EDADE9A6}" type="pres">
      <dgm:prSet presAssocID="{79B97EF6-E6BC-4844-BC32-1D8269A00FD6}" presName="root" presStyleCnt="0">
        <dgm:presLayoutVars>
          <dgm:dir/>
          <dgm:resizeHandles val="exact"/>
        </dgm:presLayoutVars>
      </dgm:prSet>
      <dgm:spPr/>
    </dgm:pt>
    <dgm:pt modelId="{5C107BA8-96BA-4A22-ACA7-8905D74F8926}" type="pres">
      <dgm:prSet presAssocID="{FD4D450C-3D04-427C-B740-4951ACF4A6C2}" presName="compNode" presStyleCnt="0"/>
      <dgm:spPr/>
    </dgm:pt>
    <dgm:pt modelId="{83ADEC93-1B1B-4D6B-B57C-FBCE207DAF7E}" type="pres">
      <dgm:prSet presAssocID="{FD4D450C-3D04-427C-B740-4951ACF4A6C2}" presName="bgRect" presStyleLbl="bgShp" presStyleIdx="0" presStyleCnt="4"/>
      <dgm:spPr/>
    </dgm:pt>
    <dgm:pt modelId="{8B663794-DD14-4CA9-9B7B-83F1EC4C9E76}" type="pres">
      <dgm:prSet presAssocID="{FD4D450C-3D04-427C-B740-4951ACF4A6C2}"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Table"/>
        </a:ext>
      </dgm:extLst>
    </dgm:pt>
    <dgm:pt modelId="{3CA982CA-DAD3-4B61-BAA5-9175191146F4}" type="pres">
      <dgm:prSet presAssocID="{FD4D450C-3D04-427C-B740-4951ACF4A6C2}" presName="spaceRect" presStyleCnt="0"/>
      <dgm:spPr/>
    </dgm:pt>
    <dgm:pt modelId="{9334580A-961B-42D6-804E-BF0E5BCFD938}" type="pres">
      <dgm:prSet presAssocID="{FD4D450C-3D04-427C-B740-4951ACF4A6C2}" presName="parTx" presStyleLbl="revTx" presStyleIdx="0" presStyleCnt="4">
        <dgm:presLayoutVars>
          <dgm:chMax val="0"/>
          <dgm:chPref val="0"/>
        </dgm:presLayoutVars>
      </dgm:prSet>
      <dgm:spPr/>
    </dgm:pt>
    <dgm:pt modelId="{1EBDB38B-ADB3-49A6-9D52-357016621237}" type="pres">
      <dgm:prSet presAssocID="{7E4DF558-3988-4FF2-A5D4-DC59B07C8471}" presName="sibTrans" presStyleCnt="0"/>
      <dgm:spPr/>
    </dgm:pt>
    <dgm:pt modelId="{761D8A52-8654-40C9-88B9-D8B9A84F252E}" type="pres">
      <dgm:prSet presAssocID="{04798D97-6C3C-4197-8BCB-6A13CF9579C6}" presName="compNode" presStyleCnt="0"/>
      <dgm:spPr/>
    </dgm:pt>
    <dgm:pt modelId="{141BE8AA-7B80-46C1-947D-B00A6F3A25AA}" type="pres">
      <dgm:prSet presAssocID="{04798D97-6C3C-4197-8BCB-6A13CF9579C6}" presName="bgRect" presStyleLbl="bgShp" presStyleIdx="1" presStyleCnt="4"/>
      <dgm:spPr/>
    </dgm:pt>
    <dgm:pt modelId="{6A6E06A1-8713-4745-802B-809760788E65}" type="pres">
      <dgm:prSet presAssocID="{04798D97-6C3C-4197-8BCB-6A13CF9579C6}"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ireless"/>
        </a:ext>
      </dgm:extLst>
    </dgm:pt>
    <dgm:pt modelId="{17ED5941-C793-4708-873F-D80820C8DCCC}" type="pres">
      <dgm:prSet presAssocID="{04798D97-6C3C-4197-8BCB-6A13CF9579C6}" presName="spaceRect" presStyleCnt="0"/>
      <dgm:spPr/>
    </dgm:pt>
    <dgm:pt modelId="{A0982510-0279-435C-8D43-E066E6B53461}" type="pres">
      <dgm:prSet presAssocID="{04798D97-6C3C-4197-8BCB-6A13CF9579C6}" presName="parTx" presStyleLbl="revTx" presStyleIdx="1" presStyleCnt="4">
        <dgm:presLayoutVars>
          <dgm:chMax val="0"/>
          <dgm:chPref val="0"/>
        </dgm:presLayoutVars>
      </dgm:prSet>
      <dgm:spPr/>
    </dgm:pt>
    <dgm:pt modelId="{140D7991-B089-42B3-B5F7-04E419405C7F}" type="pres">
      <dgm:prSet presAssocID="{733D5429-1350-4394-9E97-B9C240276F6E}" presName="sibTrans" presStyleCnt="0"/>
      <dgm:spPr/>
    </dgm:pt>
    <dgm:pt modelId="{2EEADB69-0592-4CFF-86CC-A46C961B999D}" type="pres">
      <dgm:prSet presAssocID="{0DB44EEC-92C0-4334-8FE7-A667213EFCFF}" presName="compNode" presStyleCnt="0"/>
      <dgm:spPr/>
    </dgm:pt>
    <dgm:pt modelId="{7F5CC6E1-C0A5-46B8-AF3A-D759B097279F}" type="pres">
      <dgm:prSet presAssocID="{0DB44EEC-92C0-4334-8FE7-A667213EFCFF}" presName="bgRect" presStyleLbl="bgShp" presStyleIdx="2" presStyleCnt="4"/>
      <dgm:spPr/>
    </dgm:pt>
    <dgm:pt modelId="{92ED7949-8F77-4A05-9696-AB7A4F2310EF}" type="pres">
      <dgm:prSet presAssocID="{0DB44EEC-92C0-4334-8FE7-A667213EFCFF}"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Wireless router"/>
        </a:ext>
      </dgm:extLst>
    </dgm:pt>
    <dgm:pt modelId="{EA699A45-4524-4171-99D2-2C243E5494FB}" type="pres">
      <dgm:prSet presAssocID="{0DB44EEC-92C0-4334-8FE7-A667213EFCFF}" presName="spaceRect" presStyleCnt="0"/>
      <dgm:spPr/>
    </dgm:pt>
    <dgm:pt modelId="{D0D16FB0-B441-47C2-A339-BACA50A5017D}" type="pres">
      <dgm:prSet presAssocID="{0DB44EEC-92C0-4334-8FE7-A667213EFCFF}" presName="parTx" presStyleLbl="revTx" presStyleIdx="2" presStyleCnt="4">
        <dgm:presLayoutVars>
          <dgm:chMax val="0"/>
          <dgm:chPref val="0"/>
        </dgm:presLayoutVars>
      </dgm:prSet>
      <dgm:spPr/>
    </dgm:pt>
    <dgm:pt modelId="{A55E5FD5-A7EB-4399-8648-C9497A425BF5}" type="pres">
      <dgm:prSet presAssocID="{C72196FD-EA5C-4876-8D75-019D3813FC13}" presName="sibTrans" presStyleCnt="0"/>
      <dgm:spPr/>
    </dgm:pt>
    <dgm:pt modelId="{8DB2D7E2-B410-49A8-AFE8-60517D89213D}" type="pres">
      <dgm:prSet presAssocID="{1CFE2F78-2D36-4C22-AFCB-D7815EC1238D}" presName="compNode" presStyleCnt="0"/>
      <dgm:spPr/>
    </dgm:pt>
    <dgm:pt modelId="{D712445B-8DE3-4D6C-A8F0-68E1D802FE31}" type="pres">
      <dgm:prSet presAssocID="{1CFE2F78-2D36-4C22-AFCB-D7815EC1238D}" presName="bgRect" presStyleLbl="bgShp" presStyleIdx="3" presStyleCnt="4"/>
      <dgm:spPr/>
    </dgm:pt>
    <dgm:pt modelId="{CC38D93D-DC3F-47D8-B051-23315DA24B4F}" type="pres">
      <dgm:prSet presAssocID="{1CFE2F78-2D36-4C22-AFCB-D7815EC1238D}"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5CC045C0-817B-4655-B018-54F50FCF629D}" type="pres">
      <dgm:prSet presAssocID="{1CFE2F78-2D36-4C22-AFCB-D7815EC1238D}" presName="spaceRect" presStyleCnt="0"/>
      <dgm:spPr/>
    </dgm:pt>
    <dgm:pt modelId="{EDEC92EF-0979-41C8-A1AA-95D6A6E1EC13}" type="pres">
      <dgm:prSet presAssocID="{1CFE2F78-2D36-4C22-AFCB-D7815EC1238D}" presName="parTx" presStyleLbl="revTx" presStyleIdx="3" presStyleCnt="4">
        <dgm:presLayoutVars>
          <dgm:chMax val="0"/>
          <dgm:chPref val="0"/>
        </dgm:presLayoutVars>
      </dgm:prSet>
      <dgm:spPr/>
    </dgm:pt>
  </dgm:ptLst>
  <dgm:cxnLst>
    <dgm:cxn modelId="{0EE46617-8803-420A-AE59-56196C329282}" srcId="{79B97EF6-E6BC-4844-BC32-1D8269A00FD6}" destId="{FD4D450C-3D04-427C-B740-4951ACF4A6C2}" srcOrd="0" destOrd="0" parTransId="{74F54627-DF0D-41D7-9C29-16FAEC35D650}" sibTransId="{7E4DF558-3988-4FF2-A5D4-DC59B07C8471}"/>
    <dgm:cxn modelId="{C3939C19-D99F-4358-9B61-71431C4F54B2}" srcId="{79B97EF6-E6BC-4844-BC32-1D8269A00FD6}" destId="{04798D97-6C3C-4197-8BCB-6A13CF9579C6}" srcOrd="1" destOrd="0" parTransId="{8CD5F09E-89BC-494B-9349-9552EF1632E0}" sibTransId="{733D5429-1350-4394-9E97-B9C240276F6E}"/>
    <dgm:cxn modelId="{59F4043A-81EC-4A2A-8364-0CE1CB91650D}" srcId="{79B97EF6-E6BC-4844-BC32-1D8269A00FD6}" destId="{0DB44EEC-92C0-4334-8FE7-A667213EFCFF}" srcOrd="2" destOrd="0" parTransId="{6C0D2146-61A9-4137-BB00-121F83F93CD4}" sibTransId="{C72196FD-EA5C-4876-8D75-019D3813FC13}"/>
    <dgm:cxn modelId="{94798C40-A557-4AF2-A0C5-32D1950D251B}" type="presOf" srcId="{0DB44EEC-92C0-4334-8FE7-A667213EFCFF}" destId="{D0D16FB0-B441-47C2-A339-BACA50A5017D}" srcOrd="0" destOrd="0" presId="urn:microsoft.com/office/officeart/2018/2/layout/IconVerticalSolidList"/>
    <dgm:cxn modelId="{83709D64-E434-4A1F-AE96-A751C4DC6B5B}" type="presOf" srcId="{04798D97-6C3C-4197-8BCB-6A13CF9579C6}" destId="{A0982510-0279-435C-8D43-E066E6B53461}" srcOrd="0" destOrd="0" presId="urn:microsoft.com/office/officeart/2018/2/layout/IconVerticalSolidList"/>
    <dgm:cxn modelId="{BE82A381-9633-4859-8972-BA333D533F16}" type="presOf" srcId="{1CFE2F78-2D36-4C22-AFCB-D7815EC1238D}" destId="{EDEC92EF-0979-41C8-A1AA-95D6A6E1EC13}" srcOrd="0" destOrd="0" presId="urn:microsoft.com/office/officeart/2018/2/layout/IconVerticalSolidList"/>
    <dgm:cxn modelId="{35791B9A-0B76-4FE6-95A9-25D20BB01C03}" type="presOf" srcId="{79B97EF6-E6BC-4844-BC32-1D8269A00FD6}" destId="{B2C9D581-DD1E-49F6-B7A6-9D53EDADE9A6}" srcOrd="0" destOrd="0" presId="urn:microsoft.com/office/officeart/2018/2/layout/IconVerticalSolidList"/>
    <dgm:cxn modelId="{006AAFC3-E09C-4BAA-A74B-4D37B80B0FC3}" type="presOf" srcId="{FD4D450C-3D04-427C-B740-4951ACF4A6C2}" destId="{9334580A-961B-42D6-804E-BF0E5BCFD938}" srcOrd="0" destOrd="0" presId="urn:microsoft.com/office/officeart/2018/2/layout/IconVerticalSolidList"/>
    <dgm:cxn modelId="{6F33B0FC-0F5B-4900-AFAE-63C1084B650D}" srcId="{79B97EF6-E6BC-4844-BC32-1D8269A00FD6}" destId="{1CFE2F78-2D36-4C22-AFCB-D7815EC1238D}" srcOrd="3" destOrd="0" parTransId="{41E452CB-7E56-4EDC-8E8E-8641B2957094}" sibTransId="{94B0E3D5-1100-4143-8812-A69E042FB438}"/>
    <dgm:cxn modelId="{D8FB5BA8-2FD8-4AE2-A74C-566C3913EA43}" type="presParOf" srcId="{B2C9D581-DD1E-49F6-B7A6-9D53EDADE9A6}" destId="{5C107BA8-96BA-4A22-ACA7-8905D74F8926}" srcOrd="0" destOrd="0" presId="urn:microsoft.com/office/officeart/2018/2/layout/IconVerticalSolidList"/>
    <dgm:cxn modelId="{256537BB-4720-4BF7-9637-B25D9164B06D}" type="presParOf" srcId="{5C107BA8-96BA-4A22-ACA7-8905D74F8926}" destId="{83ADEC93-1B1B-4D6B-B57C-FBCE207DAF7E}" srcOrd="0" destOrd="0" presId="urn:microsoft.com/office/officeart/2018/2/layout/IconVerticalSolidList"/>
    <dgm:cxn modelId="{7C022609-B383-42BF-BE76-CC24EE10BEFA}" type="presParOf" srcId="{5C107BA8-96BA-4A22-ACA7-8905D74F8926}" destId="{8B663794-DD14-4CA9-9B7B-83F1EC4C9E76}" srcOrd="1" destOrd="0" presId="urn:microsoft.com/office/officeart/2018/2/layout/IconVerticalSolidList"/>
    <dgm:cxn modelId="{3F71B81A-6B0C-4954-85DC-AC5EDF77F802}" type="presParOf" srcId="{5C107BA8-96BA-4A22-ACA7-8905D74F8926}" destId="{3CA982CA-DAD3-4B61-BAA5-9175191146F4}" srcOrd="2" destOrd="0" presId="urn:microsoft.com/office/officeart/2018/2/layout/IconVerticalSolidList"/>
    <dgm:cxn modelId="{3F713664-F66C-42D4-BAD1-373E586A2CD8}" type="presParOf" srcId="{5C107BA8-96BA-4A22-ACA7-8905D74F8926}" destId="{9334580A-961B-42D6-804E-BF0E5BCFD938}" srcOrd="3" destOrd="0" presId="urn:microsoft.com/office/officeart/2018/2/layout/IconVerticalSolidList"/>
    <dgm:cxn modelId="{4857228D-1372-4A49-86FE-A3A5351001B2}" type="presParOf" srcId="{B2C9D581-DD1E-49F6-B7A6-9D53EDADE9A6}" destId="{1EBDB38B-ADB3-49A6-9D52-357016621237}" srcOrd="1" destOrd="0" presId="urn:microsoft.com/office/officeart/2018/2/layout/IconVerticalSolidList"/>
    <dgm:cxn modelId="{1626B61E-3AA1-4830-B823-6B4D7E854AF4}" type="presParOf" srcId="{B2C9D581-DD1E-49F6-B7A6-9D53EDADE9A6}" destId="{761D8A52-8654-40C9-88B9-D8B9A84F252E}" srcOrd="2" destOrd="0" presId="urn:microsoft.com/office/officeart/2018/2/layout/IconVerticalSolidList"/>
    <dgm:cxn modelId="{E1407BE7-BB1B-4BCB-A254-7EF145753901}" type="presParOf" srcId="{761D8A52-8654-40C9-88B9-D8B9A84F252E}" destId="{141BE8AA-7B80-46C1-947D-B00A6F3A25AA}" srcOrd="0" destOrd="0" presId="urn:microsoft.com/office/officeart/2018/2/layout/IconVerticalSolidList"/>
    <dgm:cxn modelId="{D6F71B9E-9917-4A98-8A30-958A4806A24D}" type="presParOf" srcId="{761D8A52-8654-40C9-88B9-D8B9A84F252E}" destId="{6A6E06A1-8713-4745-802B-809760788E65}" srcOrd="1" destOrd="0" presId="urn:microsoft.com/office/officeart/2018/2/layout/IconVerticalSolidList"/>
    <dgm:cxn modelId="{7B64C636-1F68-42E9-AB41-8B95BD16EAF6}" type="presParOf" srcId="{761D8A52-8654-40C9-88B9-D8B9A84F252E}" destId="{17ED5941-C793-4708-873F-D80820C8DCCC}" srcOrd="2" destOrd="0" presId="urn:microsoft.com/office/officeart/2018/2/layout/IconVerticalSolidList"/>
    <dgm:cxn modelId="{348C6DDF-657A-4E87-8F04-4C8C435650E2}" type="presParOf" srcId="{761D8A52-8654-40C9-88B9-D8B9A84F252E}" destId="{A0982510-0279-435C-8D43-E066E6B53461}" srcOrd="3" destOrd="0" presId="urn:microsoft.com/office/officeart/2018/2/layout/IconVerticalSolidList"/>
    <dgm:cxn modelId="{0C1ED14C-B157-4FF8-AED2-0629EAC63961}" type="presParOf" srcId="{B2C9D581-DD1E-49F6-B7A6-9D53EDADE9A6}" destId="{140D7991-B089-42B3-B5F7-04E419405C7F}" srcOrd="3" destOrd="0" presId="urn:microsoft.com/office/officeart/2018/2/layout/IconVerticalSolidList"/>
    <dgm:cxn modelId="{260A0A34-0BC4-482F-BC35-B60FA9FB23A5}" type="presParOf" srcId="{B2C9D581-DD1E-49F6-B7A6-9D53EDADE9A6}" destId="{2EEADB69-0592-4CFF-86CC-A46C961B999D}" srcOrd="4" destOrd="0" presId="urn:microsoft.com/office/officeart/2018/2/layout/IconVerticalSolidList"/>
    <dgm:cxn modelId="{B106EBB0-892A-4552-800D-5EF73CA800DF}" type="presParOf" srcId="{2EEADB69-0592-4CFF-86CC-A46C961B999D}" destId="{7F5CC6E1-C0A5-46B8-AF3A-D759B097279F}" srcOrd="0" destOrd="0" presId="urn:microsoft.com/office/officeart/2018/2/layout/IconVerticalSolidList"/>
    <dgm:cxn modelId="{ABE2504A-F8BD-4C30-93C0-79C8E73E6830}" type="presParOf" srcId="{2EEADB69-0592-4CFF-86CC-A46C961B999D}" destId="{92ED7949-8F77-4A05-9696-AB7A4F2310EF}" srcOrd="1" destOrd="0" presId="urn:microsoft.com/office/officeart/2018/2/layout/IconVerticalSolidList"/>
    <dgm:cxn modelId="{7CD0BAF2-9803-436D-A32C-9EA389182E7A}" type="presParOf" srcId="{2EEADB69-0592-4CFF-86CC-A46C961B999D}" destId="{EA699A45-4524-4171-99D2-2C243E5494FB}" srcOrd="2" destOrd="0" presId="urn:microsoft.com/office/officeart/2018/2/layout/IconVerticalSolidList"/>
    <dgm:cxn modelId="{5A11DA59-8181-493B-B388-3DDC1E078C48}" type="presParOf" srcId="{2EEADB69-0592-4CFF-86CC-A46C961B999D}" destId="{D0D16FB0-B441-47C2-A339-BACA50A5017D}" srcOrd="3" destOrd="0" presId="urn:microsoft.com/office/officeart/2018/2/layout/IconVerticalSolidList"/>
    <dgm:cxn modelId="{C6447163-B234-4EEA-A959-3F9A4DC28298}" type="presParOf" srcId="{B2C9D581-DD1E-49F6-B7A6-9D53EDADE9A6}" destId="{A55E5FD5-A7EB-4399-8648-C9497A425BF5}" srcOrd="5" destOrd="0" presId="urn:microsoft.com/office/officeart/2018/2/layout/IconVerticalSolidList"/>
    <dgm:cxn modelId="{CE2593BA-BF6F-4EF5-A5AF-CA9C8A05513F}" type="presParOf" srcId="{B2C9D581-DD1E-49F6-B7A6-9D53EDADE9A6}" destId="{8DB2D7E2-B410-49A8-AFE8-60517D89213D}" srcOrd="6" destOrd="0" presId="urn:microsoft.com/office/officeart/2018/2/layout/IconVerticalSolidList"/>
    <dgm:cxn modelId="{4D61931A-C5B4-4463-8939-5BB4F2CF3872}" type="presParOf" srcId="{8DB2D7E2-B410-49A8-AFE8-60517D89213D}" destId="{D712445B-8DE3-4D6C-A8F0-68E1D802FE31}" srcOrd="0" destOrd="0" presId="urn:microsoft.com/office/officeart/2018/2/layout/IconVerticalSolidList"/>
    <dgm:cxn modelId="{7A8E8C4E-3616-4801-BF32-8833B8BD1130}" type="presParOf" srcId="{8DB2D7E2-B410-49A8-AFE8-60517D89213D}" destId="{CC38D93D-DC3F-47D8-B051-23315DA24B4F}" srcOrd="1" destOrd="0" presId="urn:microsoft.com/office/officeart/2018/2/layout/IconVerticalSolidList"/>
    <dgm:cxn modelId="{5E7310C9-798F-4DA8-B237-509CDBBE0CE1}" type="presParOf" srcId="{8DB2D7E2-B410-49A8-AFE8-60517D89213D}" destId="{5CC045C0-817B-4655-B018-54F50FCF629D}" srcOrd="2" destOrd="0" presId="urn:microsoft.com/office/officeart/2018/2/layout/IconVerticalSolidList"/>
    <dgm:cxn modelId="{DD6368F3-C46B-4AE5-A000-8ECB82FB5AAB}" type="presParOf" srcId="{8DB2D7E2-B410-49A8-AFE8-60517D89213D}" destId="{EDEC92EF-0979-41C8-A1AA-95D6A6E1EC1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ADEC93-1B1B-4D6B-B57C-FBCE207DAF7E}">
      <dsp:nvSpPr>
        <dsp:cNvPr id="0" name=""/>
        <dsp:cNvSpPr/>
      </dsp:nvSpPr>
      <dsp:spPr>
        <a:xfrm>
          <a:off x="0" y="2371"/>
          <a:ext cx="6096000" cy="120215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663794-DD14-4CA9-9B7B-83F1EC4C9E76}">
      <dsp:nvSpPr>
        <dsp:cNvPr id="0" name=""/>
        <dsp:cNvSpPr/>
      </dsp:nvSpPr>
      <dsp:spPr>
        <a:xfrm>
          <a:off x="363653" y="272857"/>
          <a:ext cx="661187" cy="661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334580A-961B-42D6-804E-BF0E5BCFD938}">
      <dsp:nvSpPr>
        <dsp:cNvPr id="0" name=""/>
        <dsp:cNvSpPr/>
      </dsp:nvSpPr>
      <dsp:spPr>
        <a:xfrm>
          <a:off x="1388493" y="2371"/>
          <a:ext cx="4707506" cy="12021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228" tIns="127228" rIns="127228" bIns="127228" numCol="1" spcCol="1270" anchor="ctr" anchorCtr="0">
          <a:noAutofit/>
        </a:bodyPr>
        <a:lstStyle/>
        <a:p>
          <a:pPr marL="0" lvl="0" indent="0" algn="l" defTabSz="666750">
            <a:lnSpc>
              <a:spcPct val="100000"/>
            </a:lnSpc>
            <a:spcBef>
              <a:spcPct val="0"/>
            </a:spcBef>
            <a:spcAft>
              <a:spcPct val="35000"/>
            </a:spcAft>
            <a:buNone/>
          </a:pPr>
          <a:r>
            <a:rPr lang="en-US" sz="1500" kern="1200"/>
            <a:t>This could be a two-phase plan due to having to order new devices. For example:</a:t>
          </a:r>
        </a:p>
      </dsp:txBody>
      <dsp:txXfrm>
        <a:off x="1388493" y="2371"/>
        <a:ext cx="4707506" cy="1202158"/>
      </dsp:txXfrm>
    </dsp:sp>
    <dsp:sp modelId="{141BE8AA-7B80-46C1-947D-B00A6F3A25AA}">
      <dsp:nvSpPr>
        <dsp:cNvPr id="0" name=""/>
        <dsp:cNvSpPr/>
      </dsp:nvSpPr>
      <dsp:spPr>
        <a:xfrm>
          <a:off x="0" y="1505070"/>
          <a:ext cx="6096000" cy="120215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6E06A1-8713-4745-802B-809760788E65}">
      <dsp:nvSpPr>
        <dsp:cNvPr id="0" name=""/>
        <dsp:cNvSpPr/>
      </dsp:nvSpPr>
      <dsp:spPr>
        <a:xfrm>
          <a:off x="363653" y="1775556"/>
          <a:ext cx="661187" cy="661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0982510-0279-435C-8D43-E066E6B53461}">
      <dsp:nvSpPr>
        <dsp:cNvPr id="0" name=""/>
        <dsp:cNvSpPr/>
      </dsp:nvSpPr>
      <dsp:spPr>
        <a:xfrm>
          <a:off x="1388493" y="1505070"/>
          <a:ext cx="4707506" cy="12021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228" tIns="127228" rIns="127228" bIns="127228" numCol="1" spcCol="1270" anchor="ctr" anchorCtr="0">
          <a:noAutofit/>
        </a:bodyPr>
        <a:lstStyle/>
        <a:p>
          <a:pPr marL="0" lvl="0" indent="0" algn="l" defTabSz="666750">
            <a:lnSpc>
              <a:spcPct val="100000"/>
            </a:lnSpc>
            <a:spcBef>
              <a:spcPct val="0"/>
            </a:spcBef>
            <a:spcAft>
              <a:spcPct val="35000"/>
            </a:spcAft>
            <a:buNone/>
          </a:pPr>
          <a:r>
            <a:rPr lang="en-US" sz="1500" kern="1200"/>
            <a:t>There is a 4–12-week lead time on Cisco ASA firewalls.</a:t>
          </a:r>
        </a:p>
      </dsp:txBody>
      <dsp:txXfrm>
        <a:off x="1388493" y="1505070"/>
        <a:ext cx="4707506" cy="1202158"/>
      </dsp:txXfrm>
    </dsp:sp>
    <dsp:sp modelId="{7F5CC6E1-C0A5-46B8-AF3A-D759B097279F}">
      <dsp:nvSpPr>
        <dsp:cNvPr id="0" name=""/>
        <dsp:cNvSpPr/>
      </dsp:nvSpPr>
      <dsp:spPr>
        <a:xfrm>
          <a:off x="0" y="3007769"/>
          <a:ext cx="6096000" cy="120215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ED7949-8F77-4A05-9696-AB7A4F2310EF}">
      <dsp:nvSpPr>
        <dsp:cNvPr id="0" name=""/>
        <dsp:cNvSpPr/>
      </dsp:nvSpPr>
      <dsp:spPr>
        <a:xfrm>
          <a:off x="363653" y="3278255"/>
          <a:ext cx="661187" cy="661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0D16FB0-B441-47C2-A339-BACA50A5017D}">
      <dsp:nvSpPr>
        <dsp:cNvPr id="0" name=""/>
        <dsp:cNvSpPr/>
      </dsp:nvSpPr>
      <dsp:spPr>
        <a:xfrm>
          <a:off x="1388493" y="3007769"/>
          <a:ext cx="4707506" cy="12021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228" tIns="127228" rIns="127228" bIns="127228" numCol="1" spcCol="1270" anchor="ctr" anchorCtr="0">
          <a:noAutofit/>
        </a:bodyPr>
        <a:lstStyle/>
        <a:p>
          <a:pPr marL="0" lvl="0" indent="0" algn="l" defTabSz="666750">
            <a:lnSpc>
              <a:spcPct val="100000"/>
            </a:lnSpc>
            <a:spcBef>
              <a:spcPct val="0"/>
            </a:spcBef>
            <a:spcAft>
              <a:spcPct val="35000"/>
            </a:spcAft>
            <a:buNone/>
          </a:pPr>
          <a:r>
            <a:rPr lang="en-US" sz="1500" kern="1200"/>
            <a:t>And a 4-6-week lead time on Cisco ISR 4331 routers.</a:t>
          </a:r>
        </a:p>
      </dsp:txBody>
      <dsp:txXfrm>
        <a:off x="1388493" y="3007769"/>
        <a:ext cx="4707506" cy="1202158"/>
      </dsp:txXfrm>
    </dsp:sp>
    <dsp:sp modelId="{D712445B-8DE3-4D6C-A8F0-68E1D802FE31}">
      <dsp:nvSpPr>
        <dsp:cNvPr id="0" name=""/>
        <dsp:cNvSpPr/>
      </dsp:nvSpPr>
      <dsp:spPr>
        <a:xfrm>
          <a:off x="0" y="4510468"/>
          <a:ext cx="6096000" cy="120215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38D93D-DC3F-47D8-B051-23315DA24B4F}">
      <dsp:nvSpPr>
        <dsp:cNvPr id="0" name=""/>
        <dsp:cNvSpPr/>
      </dsp:nvSpPr>
      <dsp:spPr>
        <a:xfrm>
          <a:off x="363653" y="4780953"/>
          <a:ext cx="661187" cy="661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DEC92EF-0979-41C8-A1AA-95D6A6E1EC13}">
      <dsp:nvSpPr>
        <dsp:cNvPr id="0" name=""/>
        <dsp:cNvSpPr/>
      </dsp:nvSpPr>
      <dsp:spPr>
        <a:xfrm>
          <a:off x="1388493" y="4510468"/>
          <a:ext cx="4707506" cy="12021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228" tIns="127228" rIns="127228" bIns="127228" numCol="1" spcCol="1270" anchor="ctr" anchorCtr="0">
          <a:noAutofit/>
        </a:bodyPr>
        <a:lstStyle/>
        <a:p>
          <a:pPr marL="0" lvl="0" indent="0" algn="l" defTabSz="666750">
            <a:lnSpc>
              <a:spcPct val="100000"/>
            </a:lnSpc>
            <a:spcBef>
              <a:spcPct val="0"/>
            </a:spcBef>
            <a:spcAft>
              <a:spcPct val="35000"/>
            </a:spcAft>
            <a:buNone/>
          </a:pPr>
          <a:r>
            <a:rPr lang="en-US" sz="1500" kern="1200"/>
            <a:t>We could install some software upgrades in the meantime, but we will have to come back and install the physical hardware when it all arrives or wait and make all the upgrades all at once. </a:t>
          </a:r>
        </a:p>
      </dsp:txBody>
      <dsp:txXfrm>
        <a:off x="1388493" y="4510468"/>
        <a:ext cx="4707506" cy="120215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ED6860-58B2-416E-83DF-BBDFCEEB974E}" type="datetimeFigureOut">
              <a:t>5/28/2026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E38BDE-68D7-4612-B471-4B01CD78667A}" type="slidenum">
              <a:t>‹#›</a:t>
            </a:fld>
            <a:endParaRPr lang="en-US"/>
          </a:p>
        </p:txBody>
      </p:sp>
    </p:spTree>
    <p:extLst>
      <p:ext uri="{BB962C8B-B14F-4D97-AF65-F5344CB8AC3E}">
        <p14:creationId xmlns:p14="http://schemas.microsoft.com/office/powerpoint/2010/main" val="3854814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This network is flat and too open. No firewalls, no </a:t>
            </a:r>
            <a:r>
              <a:rPr lang="en-US" err="1">
                <a:ea typeface="Calibri"/>
                <a:cs typeface="Calibri"/>
              </a:rPr>
              <a:t>vlans</a:t>
            </a:r>
            <a:r>
              <a:rPr lang="en-US">
                <a:ea typeface="Calibri"/>
                <a:cs typeface="Calibri"/>
              </a:rPr>
              <a:t> etc. Notice what you don't see.</a:t>
            </a:r>
          </a:p>
        </p:txBody>
      </p:sp>
      <p:sp>
        <p:nvSpPr>
          <p:cNvPr id="4" name="Slide Number Placeholder 3"/>
          <p:cNvSpPr>
            <a:spLocks noGrp="1"/>
          </p:cNvSpPr>
          <p:nvPr>
            <p:ph type="sldNum" sz="quarter" idx="5"/>
          </p:nvPr>
        </p:nvSpPr>
        <p:spPr/>
        <p:txBody>
          <a:bodyPr/>
          <a:lstStyle/>
          <a:p>
            <a:fld id="{83E38BDE-68D7-4612-B471-4B01CD78667A}" type="slidenum">
              <a:t>2</a:t>
            </a:fld>
            <a:endParaRPr lang="en-US"/>
          </a:p>
        </p:txBody>
      </p:sp>
    </p:spTree>
    <p:extLst>
      <p:ext uri="{BB962C8B-B14F-4D97-AF65-F5344CB8AC3E}">
        <p14:creationId xmlns:p14="http://schemas.microsoft.com/office/powerpoint/2010/main" val="32981032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83E38BDE-68D7-4612-B471-4B01CD78667A}" type="slidenum">
              <a:t>4</a:t>
            </a:fld>
            <a:endParaRPr lang="en-US"/>
          </a:p>
        </p:txBody>
      </p:sp>
    </p:spTree>
    <p:extLst>
      <p:ext uri="{BB962C8B-B14F-4D97-AF65-F5344CB8AC3E}">
        <p14:creationId xmlns:p14="http://schemas.microsoft.com/office/powerpoint/2010/main" val="936046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Mariah</a:t>
            </a:r>
          </a:p>
        </p:txBody>
      </p:sp>
      <p:sp>
        <p:nvSpPr>
          <p:cNvPr id="4" name="Slide Number Placeholder 3"/>
          <p:cNvSpPr>
            <a:spLocks noGrp="1"/>
          </p:cNvSpPr>
          <p:nvPr>
            <p:ph type="sldNum" sz="quarter" idx="5"/>
          </p:nvPr>
        </p:nvSpPr>
        <p:spPr/>
        <p:txBody>
          <a:bodyPr/>
          <a:lstStyle/>
          <a:p>
            <a:fld id="{83E38BDE-68D7-4612-B471-4B01CD78667A}" type="slidenum">
              <a:t>5</a:t>
            </a:fld>
            <a:endParaRPr lang="en-US"/>
          </a:p>
        </p:txBody>
      </p:sp>
    </p:spTree>
    <p:extLst>
      <p:ext uri="{BB962C8B-B14F-4D97-AF65-F5344CB8AC3E}">
        <p14:creationId xmlns:p14="http://schemas.microsoft.com/office/powerpoint/2010/main" val="23894449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Adrian</a:t>
            </a:r>
          </a:p>
        </p:txBody>
      </p:sp>
      <p:sp>
        <p:nvSpPr>
          <p:cNvPr id="4" name="Slide Number Placeholder 3"/>
          <p:cNvSpPr>
            <a:spLocks noGrp="1"/>
          </p:cNvSpPr>
          <p:nvPr>
            <p:ph type="sldNum" sz="quarter" idx="5"/>
          </p:nvPr>
        </p:nvSpPr>
        <p:spPr/>
        <p:txBody>
          <a:bodyPr/>
          <a:lstStyle/>
          <a:p>
            <a:fld id="{83E38BDE-68D7-4612-B471-4B01CD78667A}" type="slidenum">
              <a:t>6</a:t>
            </a:fld>
            <a:endParaRPr lang="en-US"/>
          </a:p>
        </p:txBody>
      </p:sp>
    </p:spTree>
    <p:extLst>
      <p:ext uri="{BB962C8B-B14F-4D97-AF65-F5344CB8AC3E}">
        <p14:creationId xmlns:p14="http://schemas.microsoft.com/office/powerpoint/2010/main" val="4800943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Adrian</a:t>
            </a:r>
          </a:p>
        </p:txBody>
      </p:sp>
      <p:sp>
        <p:nvSpPr>
          <p:cNvPr id="4" name="Slide Number Placeholder 3"/>
          <p:cNvSpPr>
            <a:spLocks noGrp="1"/>
          </p:cNvSpPr>
          <p:nvPr>
            <p:ph type="sldNum" sz="quarter" idx="5"/>
          </p:nvPr>
        </p:nvSpPr>
        <p:spPr/>
        <p:txBody>
          <a:bodyPr/>
          <a:lstStyle/>
          <a:p>
            <a:fld id="{83E38BDE-68D7-4612-B471-4B01CD78667A}" type="slidenum">
              <a:t>7</a:t>
            </a:fld>
            <a:endParaRPr lang="en-US"/>
          </a:p>
        </p:txBody>
      </p:sp>
    </p:spTree>
    <p:extLst>
      <p:ext uri="{BB962C8B-B14F-4D97-AF65-F5344CB8AC3E}">
        <p14:creationId xmlns:p14="http://schemas.microsoft.com/office/powerpoint/2010/main" val="15438724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Adrian</a:t>
            </a:r>
          </a:p>
        </p:txBody>
      </p:sp>
      <p:sp>
        <p:nvSpPr>
          <p:cNvPr id="4" name="Slide Number Placeholder 3"/>
          <p:cNvSpPr>
            <a:spLocks noGrp="1"/>
          </p:cNvSpPr>
          <p:nvPr>
            <p:ph type="sldNum" sz="quarter" idx="5"/>
          </p:nvPr>
        </p:nvSpPr>
        <p:spPr/>
        <p:txBody>
          <a:bodyPr/>
          <a:lstStyle/>
          <a:p>
            <a:fld id="{83E38BDE-68D7-4612-B471-4B01CD78667A}" type="slidenum">
              <a:t>10</a:t>
            </a:fld>
            <a:endParaRPr lang="en-US"/>
          </a:p>
        </p:txBody>
      </p:sp>
    </p:spTree>
    <p:extLst>
      <p:ext uri="{BB962C8B-B14F-4D97-AF65-F5344CB8AC3E}">
        <p14:creationId xmlns:p14="http://schemas.microsoft.com/office/powerpoint/2010/main" val="40464845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Adrian</a:t>
            </a:r>
          </a:p>
        </p:txBody>
      </p:sp>
      <p:sp>
        <p:nvSpPr>
          <p:cNvPr id="4" name="Slide Number Placeholder 3"/>
          <p:cNvSpPr>
            <a:spLocks noGrp="1"/>
          </p:cNvSpPr>
          <p:nvPr>
            <p:ph type="sldNum" sz="quarter" idx="5"/>
          </p:nvPr>
        </p:nvSpPr>
        <p:spPr/>
        <p:txBody>
          <a:bodyPr/>
          <a:lstStyle/>
          <a:p>
            <a:fld id="{83E38BDE-68D7-4612-B471-4B01CD78667A}" type="slidenum">
              <a:t>11</a:t>
            </a:fld>
            <a:endParaRPr lang="en-US"/>
          </a:p>
        </p:txBody>
      </p:sp>
    </p:spTree>
    <p:extLst>
      <p:ext uri="{BB962C8B-B14F-4D97-AF65-F5344CB8AC3E}">
        <p14:creationId xmlns:p14="http://schemas.microsoft.com/office/powerpoint/2010/main" val="3901397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83D70-91AA-429A-BD57-1CB6792B30EE}"/>
              </a:ext>
            </a:extLst>
          </p:cNvPr>
          <p:cNvSpPr>
            <a:spLocks noGrp="1"/>
          </p:cNvSpPr>
          <p:nvPr>
            <p:ph type="ctrTitle"/>
          </p:nvPr>
        </p:nvSpPr>
        <p:spPr>
          <a:xfrm>
            <a:off x="1088136" y="1078030"/>
            <a:ext cx="9288096" cy="2956718"/>
          </a:xfrm>
        </p:spPr>
        <p:txBody>
          <a:bodyPr anchor="t">
            <a:noAutofit/>
          </a:bodyPr>
          <a:lstStyle>
            <a:lvl1pPr algn="l">
              <a:defRPr sz="6600" cap="all" baseline="0"/>
            </a:lvl1pPr>
          </a:lstStyle>
          <a:p>
            <a:r>
              <a:rPr lang="en-US"/>
              <a:t>Click to edit Master title style</a:t>
            </a:r>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4455621"/>
            <a:ext cx="9288096" cy="1435331"/>
          </a:xfrm>
        </p:spPr>
        <p:txBody>
          <a:bodyPr>
            <a:normAutofit/>
          </a:bodyPr>
          <a:lstStyle>
            <a:lvl1pPr marL="0" indent="0" algn="l">
              <a:lnSpc>
                <a:spcPct val="12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A1E45834-53BD-4C8F-B791-CD5378F4150E}" type="datetimeFigureOut">
              <a:rPr lang="en-US" smtClean="0"/>
              <a:t>5/28/2026</a:t>
            </a:fld>
            <a:endParaRPr lang="en-US"/>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23901841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A1E45834-53BD-4C8F-B791-CD5378F4150E}" type="datetimeFigureOut">
              <a:rPr lang="en-US" smtClean="0"/>
              <a:t>5/28/2026</a:t>
            </a:fld>
            <a:endParaRPr lang="en-US"/>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909226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8007D-9B1D-4E2C-B38F-29C6820996DF}"/>
              </a:ext>
            </a:extLst>
          </p:cNvPr>
          <p:cNvSpPr>
            <a:spLocks noGrp="1"/>
          </p:cNvSpPr>
          <p:nvPr>
            <p:ph type="title"/>
          </p:nvPr>
        </p:nvSpPr>
        <p:spPr>
          <a:xfrm>
            <a:off x="1090940" y="1099127"/>
            <a:ext cx="9272260" cy="3472874"/>
          </a:xfrm>
        </p:spPr>
        <p:txBody>
          <a:bodyPr anchor="t">
            <a:normAutofit/>
          </a:bodyPr>
          <a:lstStyle>
            <a:lvl1pPr>
              <a:defRPr sz="4000" cap="all" baseline="0"/>
            </a:lvl1pPr>
          </a:lstStyle>
          <a:p>
            <a:r>
              <a:rPr lang="en-US"/>
              <a:t>Click to edit Master title style</a:t>
            </a:r>
          </a:p>
        </p:txBody>
      </p:sp>
      <p:sp>
        <p:nvSpPr>
          <p:cNvPr id="3" name="Text Placeholder 2">
            <a:extLst>
              <a:ext uri="{FF2B5EF4-FFF2-40B4-BE49-F238E27FC236}">
                <a16:creationId xmlns:a16="http://schemas.microsoft.com/office/drawing/2014/main" id="{5960C51B-B525-4032-9D08-2978D7367BFF}"/>
              </a:ext>
            </a:extLst>
          </p:cNvPr>
          <p:cNvSpPr>
            <a:spLocks noGrp="1"/>
          </p:cNvSpPr>
          <p:nvPr>
            <p:ph type="body" idx="1"/>
          </p:nvPr>
        </p:nvSpPr>
        <p:spPr>
          <a:xfrm>
            <a:off x="1090939" y="4572000"/>
            <a:ext cx="9272262" cy="1320801"/>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p>
            <a:fld id="{A1E45834-53BD-4C8F-B791-CD5378F4150E}" type="datetimeFigureOut">
              <a:rPr lang="en-US" smtClean="0"/>
              <a:t>5/28/2026</a:t>
            </a:fld>
            <a:endParaRPr lang="en-US"/>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4575053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088136"/>
            <a:ext cx="9890066" cy="129422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A1E45834-53BD-4C8F-B791-CD5378F4150E}" type="datetimeFigureOut">
              <a:rPr lang="en-US" smtClean="0"/>
              <a:t>5/28/2026</a:t>
            </a:fld>
            <a:endParaRPr lang="en-US"/>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918447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084333"/>
            <a:ext cx="9949455" cy="838856"/>
          </a:xfrm>
        </p:spPr>
        <p:txBody>
          <a:bodyPr/>
          <a:lstStyle/>
          <a:p>
            <a:r>
              <a:rPr lang="en-US"/>
              <a:t>Click to edit Master title style</a:t>
            </a:r>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A1E45834-53BD-4C8F-B791-CD5378F4150E}" type="datetimeFigureOut">
              <a:rPr lang="en-US" smtClean="0"/>
              <a:t>5/28/2026</a:t>
            </a:fld>
            <a:endParaRPr lang="en-US"/>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675572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p:txBody>
          <a:bodyPr/>
          <a:lstStyle>
            <a:lvl1pPr>
              <a:defRPr cap="all" baseline="0"/>
            </a:lvl1pPr>
          </a:lstStyle>
          <a:p>
            <a:r>
              <a:rPr lang="en-US"/>
              <a:t>Click to edit Master title style</a:t>
            </a:r>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A1E45834-53BD-4C8F-B791-CD5378F4150E}" type="datetimeFigureOut">
              <a:rPr lang="en-US" smtClean="0"/>
              <a:t>5/28/2026</a:t>
            </a:fld>
            <a:endParaRPr lang="en-US"/>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233160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48B02B-A32A-4383-BBC7-0C383390A96F}"/>
              </a:ext>
            </a:extLst>
          </p:cNvPr>
          <p:cNvSpPr>
            <a:spLocks noGrp="1"/>
          </p:cNvSpPr>
          <p:nvPr>
            <p:ph type="dt" sz="half" idx="10"/>
          </p:nvPr>
        </p:nvSpPr>
        <p:spPr/>
        <p:txBody>
          <a:bodyPr/>
          <a:lstStyle/>
          <a:p>
            <a:fld id="{A1E45834-53BD-4C8F-B791-CD5378F4150E}" type="datetimeFigureOut">
              <a:rPr lang="en-US" smtClean="0"/>
              <a:t>5/28/2026</a:t>
            </a:fld>
            <a:endParaRPr lang="en-US"/>
          </a:p>
        </p:txBody>
      </p:sp>
      <p:sp>
        <p:nvSpPr>
          <p:cNvPr id="3" name="Footer Placeholder 2">
            <a:extLst>
              <a:ext uri="{FF2B5EF4-FFF2-40B4-BE49-F238E27FC236}">
                <a16:creationId xmlns:a16="http://schemas.microsoft.com/office/drawing/2014/main" id="{FCFF7E77-47E0-4F9E-9148-8D0C59C0CFC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8005A2-ECF0-4759-A17B-FDECE80683F4}"/>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291682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1DD4B-5676-477E-8C52-4C1CF160FCDE}"/>
              </a:ext>
            </a:extLst>
          </p:cNvPr>
          <p:cNvSpPr>
            <a:spLocks noGrp="1"/>
          </p:cNvSpPr>
          <p:nvPr>
            <p:ph type="title"/>
          </p:nvPr>
        </p:nvSpPr>
        <p:spPr>
          <a:xfrm>
            <a:off x="1090940" y="1094448"/>
            <a:ext cx="3785860" cy="1554362"/>
          </a:xfrm>
        </p:spPr>
        <p:txBody>
          <a:bodyPr anchor="t">
            <a:normAutofit/>
          </a:bodyPr>
          <a:lstStyle>
            <a:lvl1pPr>
              <a:defRPr sz="2800" cap="all" baseline="0"/>
            </a:lvl1pPr>
          </a:lstStyle>
          <a:p>
            <a:r>
              <a:rPr lang="en-US"/>
              <a:t>Click to edit Master title style</a:t>
            </a:r>
          </a:p>
        </p:txBody>
      </p:sp>
      <p:sp>
        <p:nvSpPr>
          <p:cNvPr id="3" name="Content Placeholder 2">
            <a:extLst>
              <a:ext uri="{FF2B5EF4-FFF2-40B4-BE49-F238E27FC236}">
                <a16:creationId xmlns:a16="http://schemas.microsoft.com/office/drawing/2014/main" id="{4B5A3E63-EB15-4D82-BF2B-36BB030C430D}"/>
              </a:ext>
            </a:extLst>
          </p:cNvPr>
          <p:cNvSpPr>
            <a:spLocks noGrp="1"/>
          </p:cNvSpPr>
          <p:nvPr>
            <p:ph idx="1"/>
          </p:nvPr>
        </p:nvSpPr>
        <p:spPr>
          <a:xfrm>
            <a:off x="5524500" y="922689"/>
            <a:ext cx="548600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CBE994E-BAB7-43DC-A0E4-C779CF2A33D5}"/>
              </a:ext>
            </a:extLst>
          </p:cNvPr>
          <p:cNvSpPr>
            <a:spLocks noGrp="1"/>
          </p:cNvSpPr>
          <p:nvPr>
            <p:ph type="body" sz="half" idx="2"/>
          </p:nvPr>
        </p:nvSpPr>
        <p:spPr>
          <a:xfrm>
            <a:off x="1090940" y="2701254"/>
            <a:ext cx="3785860" cy="316773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DEFAAA-1B70-42AA-ADCC-F49B58132654}"/>
              </a:ext>
            </a:extLst>
          </p:cNvPr>
          <p:cNvSpPr>
            <a:spLocks noGrp="1"/>
          </p:cNvSpPr>
          <p:nvPr>
            <p:ph type="dt" sz="half" idx="10"/>
          </p:nvPr>
        </p:nvSpPr>
        <p:spPr/>
        <p:txBody>
          <a:bodyPr/>
          <a:lstStyle/>
          <a:p>
            <a:fld id="{A1E45834-53BD-4C8F-B791-CD5378F4150E}" type="datetimeFigureOut">
              <a:rPr lang="en-US" smtClean="0"/>
              <a:t>5/28/2026</a:t>
            </a:fld>
            <a:endParaRPr lang="en-US"/>
          </a:p>
        </p:txBody>
      </p:sp>
      <p:sp>
        <p:nvSpPr>
          <p:cNvPr id="6" name="Footer Placeholder 5">
            <a:extLst>
              <a:ext uri="{FF2B5EF4-FFF2-40B4-BE49-F238E27FC236}">
                <a16:creationId xmlns:a16="http://schemas.microsoft.com/office/drawing/2014/main" id="{E4C7B6CC-1C13-4F34-AC86-CCD442C8C3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F1B638-9061-41AD-AF47-73A4AF8B781A}"/>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427074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F3C43-1676-4A29-83F9-D788ED2E71E9}"/>
              </a:ext>
            </a:extLst>
          </p:cNvPr>
          <p:cNvSpPr>
            <a:spLocks noGrp="1"/>
          </p:cNvSpPr>
          <p:nvPr>
            <p:ph type="title"/>
          </p:nvPr>
        </p:nvSpPr>
        <p:spPr>
          <a:xfrm>
            <a:off x="1090940" y="1097280"/>
            <a:ext cx="3785860" cy="1559740"/>
          </a:xfrm>
        </p:spPr>
        <p:txBody>
          <a:bodyPr anchor="t">
            <a:normAutofit/>
          </a:bodyPr>
          <a:lstStyle>
            <a:lvl1pPr>
              <a:defRPr sz="2800" cap="all" baseline="0"/>
            </a:lvl1pPr>
          </a:lstStyle>
          <a:p>
            <a:r>
              <a:rPr lang="en-US"/>
              <a:t>Click to edit Master title style</a:t>
            </a:r>
          </a:p>
        </p:txBody>
      </p:sp>
      <p:sp>
        <p:nvSpPr>
          <p:cNvPr id="3" name="Picture Placeholder 2">
            <a:extLst>
              <a:ext uri="{FF2B5EF4-FFF2-40B4-BE49-F238E27FC236}">
                <a16:creationId xmlns:a16="http://schemas.microsoft.com/office/drawing/2014/main" id="{5214A903-97C7-4349-B8CE-1BBED1942E3B}"/>
              </a:ext>
            </a:extLst>
          </p:cNvPr>
          <p:cNvSpPr>
            <a:spLocks noGrp="1"/>
          </p:cNvSpPr>
          <p:nvPr>
            <p:ph type="pic" idx="1"/>
          </p:nvPr>
        </p:nvSpPr>
        <p:spPr>
          <a:xfrm>
            <a:off x="5524500" y="1143000"/>
            <a:ext cx="5486400" cy="457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F0A9F58-4AEB-4286-98F7-3C77AA913BE8}"/>
              </a:ext>
            </a:extLst>
          </p:cNvPr>
          <p:cNvSpPr>
            <a:spLocks noGrp="1"/>
          </p:cNvSpPr>
          <p:nvPr>
            <p:ph type="body" sz="half" idx="2"/>
          </p:nvPr>
        </p:nvSpPr>
        <p:spPr>
          <a:xfrm>
            <a:off x="1090940" y="2697480"/>
            <a:ext cx="3785860" cy="30934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F55A58-F085-4500-AF61-045B12C8F41E}"/>
              </a:ext>
            </a:extLst>
          </p:cNvPr>
          <p:cNvSpPr>
            <a:spLocks noGrp="1"/>
          </p:cNvSpPr>
          <p:nvPr>
            <p:ph type="dt" sz="half" idx="10"/>
          </p:nvPr>
        </p:nvSpPr>
        <p:spPr/>
        <p:txBody>
          <a:bodyPr/>
          <a:lstStyle/>
          <a:p>
            <a:fld id="{A1E45834-53BD-4C8F-B791-CD5378F4150E}" type="datetimeFigureOut">
              <a:rPr lang="en-US" smtClean="0"/>
              <a:t>5/28/2026</a:t>
            </a:fld>
            <a:endParaRPr lang="en-US"/>
          </a:p>
        </p:txBody>
      </p:sp>
      <p:sp>
        <p:nvSpPr>
          <p:cNvPr id="6" name="Footer Placeholder 5">
            <a:extLst>
              <a:ext uri="{FF2B5EF4-FFF2-40B4-BE49-F238E27FC236}">
                <a16:creationId xmlns:a16="http://schemas.microsoft.com/office/drawing/2014/main" id="{E9936470-561D-49AE-AC84-B79D483FDA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EF2BE2-DF21-4683-9D5F-849A525FD5C4}"/>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2646443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6C900-05BC-4021-B69F-2DAF974B7EF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F26E227-253A-44A0-9404-1CFD8CE419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A1E45834-53BD-4C8F-B791-CD5378F4150E}" type="datetimeFigureOut">
              <a:rPr lang="en-US" smtClean="0"/>
              <a:t>5/28/2026</a:t>
            </a:fld>
            <a:endParaRPr lang="en-US"/>
          </a:p>
        </p:txBody>
      </p:sp>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4287165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2CF945-D70F-49C1-8CE5-5758C1166014}"/>
              </a:ext>
            </a:extLst>
          </p:cNvPr>
          <p:cNvSpPr>
            <a:spLocks noGrp="1"/>
          </p:cNvSpPr>
          <p:nvPr>
            <p:ph type="title" orient="vert"/>
          </p:nvPr>
        </p:nvSpPr>
        <p:spPr>
          <a:xfrm>
            <a:off x="9182100" y="1091381"/>
            <a:ext cx="2171700" cy="495336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FDB721-04AA-4330-8045-3F2D9BB4BC66}"/>
              </a:ext>
            </a:extLst>
          </p:cNvPr>
          <p:cNvSpPr>
            <a:spLocks noGrp="1"/>
          </p:cNvSpPr>
          <p:nvPr>
            <p:ph type="body" orient="vert" idx="1"/>
          </p:nvPr>
        </p:nvSpPr>
        <p:spPr>
          <a:xfrm>
            <a:off x="838200" y="1091381"/>
            <a:ext cx="8265340" cy="495336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418C15-991C-4C71-8DCD-DB3B3888831F}"/>
              </a:ext>
            </a:extLst>
          </p:cNvPr>
          <p:cNvSpPr>
            <a:spLocks noGrp="1"/>
          </p:cNvSpPr>
          <p:nvPr>
            <p:ph type="dt" sz="half" idx="10"/>
          </p:nvPr>
        </p:nvSpPr>
        <p:spPr/>
        <p:txBody>
          <a:bodyPr/>
          <a:lstStyle/>
          <a:p>
            <a:fld id="{A1E45834-53BD-4C8F-B791-CD5378F4150E}" type="datetimeFigureOut">
              <a:rPr lang="en-US" smtClean="0"/>
              <a:t>5/28/2026</a:t>
            </a:fld>
            <a:endParaRPr lang="en-US"/>
          </a:p>
        </p:txBody>
      </p:sp>
      <p:sp>
        <p:nvSpPr>
          <p:cNvPr id="5" name="Footer Placeholder 4">
            <a:extLst>
              <a:ext uri="{FF2B5EF4-FFF2-40B4-BE49-F238E27FC236}">
                <a16:creationId xmlns:a16="http://schemas.microsoft.com/office/drawing/2014/main" id="{F7728CC3-5830-4EFA-B28E-1648904DE1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DA91B6-E419-4483-9B66-3C758788BC48}"/>
              </a:ext>
            </a:extLst>
          </p:cNvPr>
          <p:cNvSpPr>
            <a:spLocks noGrp="1"/>
          </p:cNvSpPr>
          <p:nvPr>
            <p:ph type="sldNum" sz="quarter" idx="12"/>
          </p:nvPr>
        </p:nvSpPr>
        <p:spPr/>
        <p:txBody>
          <a:bodyPr/>
          <a:lstStyle/>
          <a:p>
            <a:fld id="{719D7796-F675-488F-AC46-C88938C80352}" type="slidenum">
              <a:rPr lang="en-US" smtClean="0"/>
              <a:t>‹#›</a:t>
            </a:fld>
            <a:endParaRPr lang="en-US"/>
          </a:p>
        </p:txBody>
      </p:sp>
      <p:cxnSp>
        <p:nvCxnSpPr>
          <p:cNvPr id="7" name="Straight Connector 6">
            <a:extLst>
              <a:ext uri="{FF2B5EF4-FFF2-40B4-BE49-F238E27FC236}">
                <a16:creationId xmlns:a16="http://schemas.microsoft.com/office/drawing/2014/main" id="{DE447C6A-78C3-4687-9A71-A05DBF6700DE}"/>
              </a:ext>
            </a:extLst>
          </p:cNvPr>
          <p:cNvCxnSpPr>
            <a:cxnSpLocks/>
          </p:cNvCxnSpPr>
          <p:nvPr/>
        </p:nvCxnSpPr>
        <p:spPr>
          <a:xfrm>
            <a:off x="11387805"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0081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129422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447778"/>
            <a:ext cx="9922764" cy="38387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7315200" y="6389688"/>
            <a:ext cx="3695302" cy="365125"/>
          </a:xfrm>
          <a:prstGeom prst="rect">
            <a:avLst/>
          </a:prstGeom>
        </p:spPr>
        <p:txBody>
          <a:bodyPr vert="horz" lIns="91440" tIns="45720" rIns="91440" bIns="45720" rtlCol="0" anchor="ctr"/>
          <a:lstStyle>
            <a:lvl1pPr algn="l">
              <a:defRPr sz="900">
                <a:solidFill>
                  <a:schemeClr val="tx1"/>
                </a:solidFill>
              </a:defRPr>
            </a:lvl1pPr>
          </a:lstStyle>
          <a:p>
            <a:fld id="{A1E45834-53BD-4C8F-B791-CD5378F4150E}" type="datetimeFigureOut">
              <a:rPr lang="en-US" smtClean="0"/>
              <a:t>5/28/2026</a:t>
            </a:fld>
            <a:endParaRPr lang="en-US"/>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90940" y="6389688"/>
            <a:ext cx="4433560" cy="365125"/>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983190" y="6389688"/>
            <a:ext cx="940296" cy="365125"/>
          </a:xfrm>
          <a:prstGeom prst="rect">
            <a:avLst/>
          </a:prstGeom>
        </p:spPr>
        <p:txBody>
          <a:bodyPr vert="horz" lIns="91440" tIns="45720" rIns="91440" bIns="45720" rtlCol="0" anchor="ctr"/>
          <a:lstStyle>
            <a:lvl1pPr algn="r">
              <a:defRPr sz="900">
                <a:solidFill>
                  <a:schemeClr val="tx1"/>
                </a:solidFill>
              </a:defRPr>
            </a:lvl1pPr>
          </a:lstStyle>
          <a:p>
            <a:fld id="{719D7796-F675-488F-AC46-C88938C80352}" type="slidenum">
              <a:rPr lang="en-US" smtClean="0"/>
              <a:t>‹#›</a:t>
            </a:fld>
            <a:endParaRPr lang="en-US"/>
          </a:p>
        </p:txBody>
      </p:sp>
      <p:cxnSp>
        <p:nvCxnSpPr>
          <p:cNvPr id="28" name="Straight Connector 27">
            <a:extLst>
              <a:ext uri="{FF2B5EF4-FFF2-40B4-BE49-F238E27FC236}">
                <a16:creationId xmlns:a16="http://schemas.microsoft.com/office/drawing/2014/main" id="{D8689CE0-64D2-447C-9C1F-872D111D8AC3}"/>
              </a:ext>
            </a:extLst>
          </p:cNvPr>
          <p:cNvCxnSpPr>
            <a:cxnSpLocks/>
          </p:cNvCxnSpPr>
          <p:nvPr/>
        </p:nvCxnSpPr>
        <p:spPr>
          <a:xfrm>
            <a:off x="0"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6663725"/>
      </p:ext>
    </p:extLst>
  </p:cSld>
  <p:clrMap bg1="lt1" tx1="dk1" bg2="lt2" tx2="dk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1" r:id="rId6"/>
    <p:sldLayoutId id="2147483737" r:id="rId7"/>
    <p:sldLayoutId id="2147483738" r:id="rId8"/>
    <p:sldLayoutId id="2147483739" r:id="rId9"/>
    <p:sldLayoutId id="2147483740" r:id="rId10"/>
    <p:sldLayoutId id="2147483742" r:id="rId11"/>
  </p:sldLayoutIdLst>
  <p:txStyles>
    <p:titleStyle>
      <a:lvl1pPr algn="l" defTabSz="914400" rtl="0" eaLnBrk="1" latinLnBrk="0" hangingPunct="1">
        <a:lnSpc>
          <a:spcPct val="85000"/>
        </a:lnSpc>
        <a:spcBef>
          <a:spcPct val="0"/>
        </a:spcBef>
        <a:buNone/>
        <a:defRPr sz="4400" b="1" kern="1200" cap="none" baseline="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Neue Haas Grotesk Text Pro" panose="020B0504020202020204" pitchFamily="34" charset="0"/>
        <a:buChar char="-"/>
        <a:defRPr sz="1800" kern="1200">
          <a:solidFill>
            <a:schemeClr val="tx1"/>
          </a:solidFill>
          <a:latin typeface="+mn-lt"/>
          <a:ea typeface="+mn-ea"/>
          <a:cs typeface="+mn-cs"/>
        </a:defRPr>
      </a:lvl1pPr>
      <a:lvl2pPr marL="502920" indent="-228600" algn="l" defTabSz="914400" rtl="0" eaLnBrk="1" latinLnBrk="0" hangingPunct="1">
        <a:lnSpc>
          <a:spcPct val="130000"/>
        </a:lnSpc>
        <a:spcBef>
          <a:spcPts val="500"/>
        </a:spcBef>
        <a:buFont typeface="Neue Haas Grotesk Text Pro" panose="020B05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30000"/>
        </a:lnSpc>
        <a:spcBef>
          <a:spcPts val="50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4pPr>
      <a:lvl5pPr marL="128016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2_87987376.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7" name="Rectangle 76">
            <a:extLst>
              <a:ext uri="{FF2B5EF4-FFF2-40B4-BE49-F238E27FC236}">
                <a16:creationId xmlns:a16="http://schemas.microsoft.com/office/drawing/2014/main" id="{41D7B59F-C43F-435D-A754-00854140FD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Top view of wood desk with the plant, white keyboard, coffee in a white mug, notebook, and pen">
            <a:extLst>
              <a:ext uri="{FF2B5EF4-FFF2-40B4-BE49-F238E27FC236}">
                <a16:creationId xmlns:a16="http://schemas.microsoft.com/office/drawing/2014/main" id="{8421B8D5-29CA-6A45-44ED-676F264EF88C}"/>
              </a:ext>
            </a:extLst>
          </p:cNvPr>
          <p:cNvPicPr>
            <a:picLocks noChangeAspect="1"/>
          </p:cNvPicPr>
          <p:nvPr/>
        </p:nvPicPr>
        <p:blipFill>
          <a:blip r:embed="rId2">
            <a:alphaModFix/>
          </a:blip>
          <a:srcRect t="203" b="16771"/>
          <a:stretch>
            <a:fillRect/>
          </a:stretch>
        </p:blipFill>
        <p:spPr>
          <a:xfrm>
            <a:off x="20" y="10"/>
            <a:ext cx="12191979" cy="6857990"/>
          </a:xfrm>
          <a:prstGeom prst="rect">
            <a:avLst/>
          </a:prstGeom>
        </p:spPr>
      </p:pic>
      <p:sp>
        <p:nvSpPr>
          <p:cNvPr id="78" name="Rectangle 77">
            <a:extLst>
              <a:ext uri="{FF2B5EF4-FFF2-40B4-BE49-F238E27FC236}">
                <a16:creationId xmlns:a16="http://schemas.microsoft.com/office/drawing/2014/main" id="{7EEAEB7F-657B-DEB0-ADDC-03CAE43EF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525254"/>
          </a:xfrm>
          <a:prstGeom prst="rect">
            <a:avLst/>
          </a:prstGeom>
          <a:gradFill>
            <a:gsLst>
              <a:gs pos="0">
                <a:srgbClr val="000000">
                  <a:alpha val="50000"/>
                </a:srgbClr>
              </a:gs>
              <a:gs pos="100000">
                <a:srgbClr val="000000">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02525" y="1765611"/>
            <a:ext cx="9958754" cy="2966487"/>
          </a:xfrm>
        </p:spPr>
        <p:txBody>
          <a:bodyPr anchor="t">
            <a:normAutofit/>
          </a:bodyPr>
          <a:lstStyle/>
          <a:p>
            <a:r>
              <a:rPr lang="en-US" sz="5600" b="0">
                <a:solidFill>
                  <a:srgbClr val="FFFFFF"/>
                </a:solidFill>
                <a:latin typeface="Times New Roman"/>
                <a:ea typeface="+mj-lt"/>
                <a:cs typeface="+mj-lt"/>
              </a:rPr>
              <a:t>Securing the Maternity Ward Network: A HIPAA-Focused Redesign</a:t>
            </a:r>
            <a:endParaRPr lang="en-US" sz="5600">
              <a:solidFill>
                <a:srgbClr val="FFFFFF"/>
              </a:solidFill>
              <a:latin typeface="Times New Roman"/>
            </a:endParaRPr>
          </a:p>
        </p:txBody>
      </p:sp>
      <p:sp>
        <p:nvSpPr>
          <p:cNvPr id="79" name="Rectangle 78">
            <a:extLst>
              <a:ext uri="{FF2B5EF4-FFF2-40B4-BE49-F238E27FC236}">
                <a16:creationId xmlns:a16="http://schemas.microsoft.com/office/drawing/2014/main" id="{FC542542-348B-FB37-590A-1A0C034F4E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851917"/>
            <a:ext cx="12192000" cy="2006082"/>
          </a:xfrm>
          <a:prstGeom prst="rect">
            <a:avLst/>
          </a:prstGeom>
          <a:gradFill>
            <a:gsLst>
              <a:gs pos="0">
                <a:srgbClr val="000000">
                  <a:alpha val="42000"/>
                </a:srgbClr>
              </a:gs>
              <a:gs pos="100000">
                <a:srgbClr val="000000">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099476" y="4567834"/>
            <a:ext cx="9258183" cy="1270304"/>
          </a:xfrm>
        </p:spPr>
        <p:txBody>
          <a:bodyPr vert="horz" lIns="91440" tIns="45720" rIns="91440" bIns="45720" rtlCol="0" anchor="b">
            <a:normAutofit/>
          </a:bodyPr>
          <a:lstStyle/>
          <a:p>
            <a:r>
              <a:rPr lang="en-US">
                <a:solidFill>
                  <a:srgbClr val="FFFFFF"/>
                </a:solidFill>
                <a:ea typeface="+mn-lt"/>
                <a:cs typeface="+mn-lt"/>
              </a:rPr>
              <a:t>Adrian Joco – Networking Engineer</a:t>
            </a:r>
            <a:br>
              <a:rPr lang="en-US">
                <a:solidFill>
                  <a:srgbClr val="FFFFFF"/>
                </a:solidFill>
                <a:ea typeface="+mn-lt"/>
                <a:cs typeface="+mn-lt"/>
              </a:rPr>
            </a:br>
            <a:r>
              <a:rPr lang="en-US">
                <a:solidFill>
                  <a:srgbClr val="FFFFFF"/>
                </a:solidFill>
                <a:ea typeface="+mn-lt"/>
                <a:cs typeface="+mn-lt"/>
              </a:rPr>
              <a:t> Mariah Rodgers – Security Engineer</a:t>
            </a:r>
            <a:br>
              <a:rPr lang="en-US">
                <a:solidFill>
                  <a:srgbClr val="FFFFFF"/>
                </a:solidFill>
                <a:ea typeface="+mn-lt"/>
                <a:cs typeface="+mn-lt"/>
              </a:rPr>
            </a:br>
            <a:r>
              <a:rPr lang="en-US">
                <a:solidFill>
                  <a:srgbClr val="FFFFFF"/>
                </a:solidFill>
                <a:ea typeface="+mn-lt"/>
                <a:cs typeface="+mn-lt"/>
              </a:rPr>
              <a:t> Diamond Williams – Project Manager</a:t>
            </a:r>
          </a:p>
        </p:txBody>
      </p:sp>
      <p:cxnSp>
        <p:nvCxnSpPr>
          <p:cNvPr id="80" name="Straight Connector 79">
            <a:extLst>
              <a:ext uri="{FF2B5EF4-FFF2-40B4-BE49-F238E27FC236}">
                <a16:creationId xmlns:a16="http://schemas.microsoft.com/office/drawing/2014/main" id="{B0AA360F-DECB-4836-8FB6-22C4BC3FB0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14"/>
            <a:ext cx="804195" cy="0"/>
          </a:xfrm>
          <a:prstGeom prst="line">
            <a:avLst/>
          </a:prstGeom>
          <a:ln w="85725">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42518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55E24A-2470-60EE-8556-1D3DB5D8CE00}"/>
            </a:ext>
          </a:extLst>
        </p:cNvPr>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D96404D-CEDF-736C-F42E-817A08316876}"/>
              </a:ext>
            </a:extLst>
          </p:cNvPr>
          <p:cNvSpPr/>
          <p:nvPr/>
        </p:nvSpPr>
        <p:spPr>
          <a:xfrm>
            <a:off x="-3140" y="1056123"/>
            <a:ext cx="12201419" cy="5653244"/>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BD1EDA-FC12-056A-FC91-84D2C507BE79}"/>
              </a:ext>
            </a:extLst>
          </p:cNvPr>
          <p:cNvSpPr>
            <a:spLocks noGrp="1"/>
          </p:cNvSpPr>
          <p:nvPr>
            <p:ph type="title"/>
          </p:nvPr>
        </p:nvSpPr>
        <p:spPr>
          <a:xfrm>
            <a:off x="1226397" y="283267"/>
            <a:ext cx="6308775" cy="2049620"/>
          </a:xfrm>
        </p:spPr>
        <p:txBody>
          <a:bodyPr>
            <a:normAutofit/>
          </a:bodyPr>
          <a:lstStyle/>
          <a:p>
            <a:pPr algn="ctr"/>
            <a:r>
              <a:rPr lang="en-US" sz="4700"/>
              <a:t>The original network</a:t>
            </a:r>
            <a:endParaRPr lang="en-US"/>
          </a:p>
        </p:txBody>
      </p:sp>
      <p:cxnSp>
        <p:nvCxnSpPr>
          <p:cNvPr id="7" name="Straight Connector 6">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descr="A diagram of a computer network&#10;&#10;AI-generated content may be incorrect.">
            <a:extLst>
              <a:ext uri="{FF2B5EF4-FFF2-40B4-BE49-F238E27FC236}">
                <a16:creationId xmlns:a16="http://schemas.microsoft.com/office/drawing/2014/main" id="{709F677B-0F49-9851-4177-5FB4A66DB1E0}"/>
              </a:ext>
            </a:extLst>
          </p:cNvPr>
          <p:cNvPicPr>
            <a:picLocks noGrp="1" noChangeAspect="1"/>
          </p:cNvPicPr>
          <p:nvPr>
            <p:ph idx="1"/>
          </p:nvPr>
        </p:nvPicPr>
        <p:blipFill>
          <a:blip r:embed="rId3"/>
          <a:stretch>
            <a:fillRect/>
          </a:stretch>
        </p:blipFill>
        <p:spPr>
          <a:xfrm>
            <a:off x="63714" y="1120074"/>
            <a:ext cx="12067809" cy="5522852"/>
          </a:xfrm>
          <a:prstGeom prst="rect">
            <a:avLst/>
          </a:prstGeom>
        </p:spPr>
      </p:pic>
    </p:spTree>
    <p:extLst>
      <p:ext uri="{BB962C8B-B14F-4D97-AF65-F5344CB8AC3E}">
        <p14:creationId xmlns:p14="http://schemas.microsoft.com/office/powerpoint/2010/main" val="2699245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230BC57-3860-6730-7F99-3A4D39D6B462}"/>
            </a:ext>
          </a:extLst>
        </p:cNvPr>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EB74E5DB-EF73-514F-1407-97E7ACF8D7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D38853-795F-2859-3E36-09679D7BBC72}"/>
              </a:ext>
            </a:extLst>
          </p:cNvPr>
          <p:cNvSpPr>
            <a:spLocks noGrp="1"/>
          </p:cNvSpPr>
          <p:nvPr>
            <p:ph type="title"/>
          </p:nvPr>
        </p:nvSpPr>
        <p:spPr>
          <a:xfrm>
            <a:off x="-2634" y="160364"/>
            <a:ext cx="9270741" cy="2037330"/>
          </a:xfrm>
        </p:spPr>
        <p:txBody>
          <a:bodyPr>
            <a:normAutofit/>
          </a:bodyPr>
          <a:lstStyle/>
          <a:p>
            <a:r>
              <a:rPr lang="en-US"/>
              <a:t>Issues with the original network</a:t>
            </a:r>
          </a:p>
        </p:txBody>
      </p:sp>
      <p:cxnSp>
        <p:nvCxnSpPr>
          <p:cNvPr id="7" name="Straight Connector 6">
            <a:extLst>
              <a:ext uri="{FF2B5EF4-FFF2-40B4-BE49-F238E27FC236}">
                <a16:creationId xmlns:a16="http://schemas.microsoft.com/office/drawing/2014/main" id="{8FEA0E68-8B87-A28D-3ACB-E5EB8FF028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2F02163B-FFD2-C0D6-636D-075C3E61C998}"/>
              </a:ext>
            </a:extLst>
          </p:cNvPr>
          <p:cNvSpPr>
            <a:spLocks noGrp="1"/>
          </p:cNvSpPr>
          <p:nvPr>
            <p:ph idx="1"/>
          </p:nvPr>
        </p:nvSpPr>
        <p:spPr>
          <a:xfrm>
            <a:off x="396732" y="1877749"/>
            <a:ext cx="8854123" cy="4408751"/>
          </a:xfrm>
        </p:spPr>
        <p:txBody>
          <a:bodyPr vert="horz" lIns="91440" tIns="45720" rIns="91440" bIns="45720" rtlCol="0" anchor="t">
            <a:normAutofit/>
          </a:bodyPr>
          <a:lstStyle/>
          <a:p>
            <a:r>
              <a:rPr lang="en-US">
                <a:latin typeface="Times New Roman"/>
                <a:ea typeface="+mn-lt"/>
                <a:cs typeface="+mn-lt"/>
              </a:rPr>
              <a:t>The network is too open and is not securely segmented.</a:t>
            </a:r>
          </a:p>
          <a:p>
            <a:r>
              <a:rPr lang="en-US">
                <a:latin typeface="Times New Roman"/>
                <a:ea typeface="+mn-lt"/>
                <a:cs typeface="+mn-lt"/>
              </a:rPr>
              <a:t>The design appears to be based on device location rather than security roles.</a:t>
            </a:r>
          </a:p>
          <a:p>
            <a:r>
              <a:rPr lang="en-US">
                <a:latin typeface="Times New Roman"/>
                <a:ea typeface="+mn-lt"/>
                <a:cs typeface="+mn-lt"/>
              </a:rPr>
              <a:t>There is no firewall protection in place.</a:t>
            </a:r>
          </a:p>
          <a:p>
            <a:r>
              <a:rPr lang="en-US">
                <a:latin typeface="Times New Roman"/>
                <a:ea typeface="+mn-lt"/>
                <a:cs typeface="+mn-lt"/>
              </a:rPr>
              <a:t>Traffic can move laterally across the network.</a:t>
            </a:r>
          </a:p>
          <a:p>
            <a:r>
              <a:rPr lang="en-US">
                <a:latin typeface="Times New Roman"/>
                <a:ea typeface="+mn-lt"/>
                <a:cs typeface="+mn-lt"/>
              </a:rPr>
              <a:t>Servers containing sensitive data are reachable by all users.</a:t>
            </a:r>
          </a:p>
          <a:p>
            <a:r>
              <a:rPr lang="en-US">
                <a:latin typeface="Times New Roman"/>
                <a:ea typeface="+mn-lt"/>
                <a:cs typeface="+mn-lt"/>
              </a:rPr>
              <a:t>BYOD devices and patient devices have the same level of access as staff devices.</a:t>
            </a:r>
          </a:p>
          <a:p>
            <a:r>
              <a:rPr lang="en-US">
                <a:latin typeface="Times New Roman"/>
                <a:ea typeface="+mn-lt"/>
                <a:cs typeface="+mn-lt"/>
              </a:rPr>
              <a:t>There is a lack of TACACS+/RADIUS authentication and centralized access control.</a:t>
            </a:r>
          </a:p>
          <a:p>
            <a:r>
              <a:rPr lang="en-US" b="1">
                <a:latin typeface="Times New Roman"/>
                <a:ea typeface="+mn-lt"/>
                <a:cs typeface="+mn-lt"/>
              </a:rPr>
              <a:t>Protected health information is not being properly secured in accordance with HIPAA requirements.</a:t>
            </a:r>
          </a:p>
          <a:p>
            <a:endParaRPr lang="en-US">
              <a:latin typeface="Times New Roman"/>
              <a:cs typeface="Times New Roman"/>
            </a:endParaRPr>
          </a:p>
          <a:p>
            <a:endParaRPr lang="en-US"/>
          </a:p>
          <a:p>
            <a:endParaRPr lang="en-US"/>
          </a:p>
        </p:txBody>
      </p:sp>
      <p:pic>
        <p:nvPicPr>
          <p:cNvPr id="4" name="Picture 3" descr="Top view of wood desk with the plant, white keyboard, coffee in a white mug, notebook, and pen">
            <a:extLst>
              <a:ext uri="{FF2B5EF4-FFF2-40B4-BE49-F238E27FC236}">
                <a16:creationId xmlns:a16="http://schemas.microsoft.com/office/drawing/2014/main" id="{AB349030-CC83-9EA9-E62F-3CDF1FAC57D4}"/>
              </a:ext>
            </a:extLst>
          </p:cNvPr>
          <p:cNvPicPr>
            <a:picLocks noChangeAspect="1"/>
          </p:cNvPicPr>
          <p:nvPr/>
        </p:nvPicPr>
        <p:blipFill>
          <a:blip r:embed="rId2"/>
          <a:srcRect l="31918" r="31948" b="-1"/>
          <a:stretch>
            <a:fillRect/>
          </a:stretch>
        </p:blipFill>
        <p:spPr>
          <a:xfrm>
            <a:off x="9677400" y="10"/>
            <a:ext cx="2514601" cy="6857990"/>
          </a:xfrm>
          <a:prstGeom prst="rect">
            <a:avLst/>
          </a:prstGeom>
        </p:spPr>
      </p:pic>
    </p:spTree>
    <p:extLst>
      <p:ext uri="{BB962C8B-B14F-4D97-AF65-F5344CB8AC3E}">
        <p14:creationId xmlns:p14="http://schemas.microsoft.com/office/powerpoint/2010/main" val="22787764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086DB6-E839-B79E-CEAC-41E64B856533}"/>
            </a:ext>
          </a:extLst>
        </p:cNvPr>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B95B0BB3-0DF3-BE40-48E2-D9A3EDBE27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62ABEF-1C3C-F0EC-5682-63302376F44E}"/>
              </a:ext>
            </a:extLst>
          </p:cNvPr>
          <p:cNvSpPr>
            <a:spLocks noGrp="1"/>
          </p:cNvSpPr>
          <p:nvPr>
            <p:ph type="title"/>
          </p:nvPr>
        </p:nvSpPr>
        <p:spPr>
          <a:xfrm>
            <a:off x="-2634" y="283267"/>
            <a:ext cx="9258450" cy="2049620"/>
          </a:xfrm>
        </p:spPr>
        <p:txBody>
          <a:bodyPr>
            <a:normAutofit/>
          </a:bodyPr>
          <a:lstStyle/>
          <a:p>
            <a:r>
              <a:rPr lang="en-US"/>
              <a:t>The upgraded network</a:t>
            </a:r>
          </a:p>
        </p:txBody>
      </p:sp>
      <p:cxnSp>
        <p:nvCxnSpPr>
          <p:cNvPr id="7" name="Straight Connector 6">
            <a:extLst>
              <a:ext uri="{FF2B5EF4-FFF2-40B4-BE49-F238E27FC236}">
                <a16:creationId xmlns:a16="http://schemas.microsoft.com/office/drawing/2014/main" id="{F4B02DA9-B391-6A79-28CA-242C66230C0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9296A597-CEEB-9952-D3CA-16FDA7F51719}"/>
              </a:ext>
            </a:extLst>
          </p:cNvPr>
          <p:cNvSpPr/>
          <p:nvPr/>
        </p:nvSpPr>
        <p:spPr>
          <a:xfrm>
            <a:off x="876283" y="1311377"/>
            <a:ext cx="10430697" cy="5429478"/>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Content Placeholder 2" descr="A diagram of a network&#10;&#10;AI-generated content may be incorrect.">
            <a:extLst>
              <a:ext uri="{FF2B5EF4-FFF2-40B4-BE49-F238E27FC236}">
                <a16:creationId xmlns:a16="http://schemas.microsoft.com/office/drawing/2014/main" id="{1D55B540-293A-28E8-28BD-0FD728EED80F}"/>
              </a:ext>
            </a:extLst>
          </p:cNvPr>
          <p:cNvPicPr>
            <a:picLocks noGrp="1" noChangeAspect="1"/>
          </p:cNvPicPr>
          <p:nvPr>
            <p:ph idx="1"/>
          </p:nvPr>
        </p:nvPicPr>
        <p:blipFill>
          <a:blip r:embed="rId4"/>
          <a:stretch>
            <a:fillRect/>
          </a:stretch>
        </p:blipFill>
        <p:spPr>
          <a:xfrm>
            <a:off x="1090810" y="1510605"/>
            <a:ext cx="10013762" cy="5021136"/>
          </a:xfrm>
          <a:prstGeom prst="rect">
            <a:avLst/>
          </a:prstGeom>
        </p:spPr>
      </p:pic>
    </p:spTree>
    <p:extLst>
      <p:ext uri="{BB962C8B-B14F-4D97-AF65-F5344CB8AC3E}">
        <p14:creationId xmlns:p14="http://schemas.microsoft.com/office/powerpoint/2010/main" val="2274915190"/>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9AE200-B214-BBE4-5F4F-0B98CCC59886}"/>
            </a:ext>
          </a:extLst>
        </p:cNvPr>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373EF40F-13CA-FEF5-F1AF-A0C301B2D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BED211-5016-312D-5782-30083A01E3A7}"/>
              </a:ext>
            </a:extLst>
          </p:cNvPr>
          <p:cNvSpPr>
            <a:spLocks noGrp="1"/>
          </p:cNvSpPr>
          <p:nvPr>
            <p:ph type="title"/>
          </p:nvPr>
        </p:nvSpPr>
        <p:spPr>
          <a:xfrm>
            <a:off x="611882" y="37460"/>
            <a:ext cx="9258450" cy="2049620"/>
          </a:xfrm>
        </p:spPr>
        <p:txBody>
          <a:bodyPr>
            <a:normAutofit/>
          </a:bodyPr>
          <a:lstStyle/>
          <a:p>
            <a:r>
              <a:rPr lang="en-US"/>
              <a:t>What we changed to the network</a:t>
            </a:r>
          </a:p>
        </p:txBody>
      </p:sp>
      <p:cxnSp>
        <p:nvCxnSpPr>
          <p:cNvPr id="7" name="Straight Connector 6">
            <a:extLst>
              <a:ext uri="{FF2B5EF4-FFF2-40B4-BE49-F238E27FC236}">
                <a16:creationId xmlns:a16="http://schemas.microsoft.com/office/drawing/2014/main" id="{BBA8D64F-CD18-7170-C71E-369B47DA5B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82A6253F-E9FB-970B-1386-9F32CEC7892D}"/>
              </a:ext>
            </a:extLst>
          </p:cNvPr>
          <p:cNvSpPr>
            <a:spLocks noGrp="1"/>
          </p:cNvSpPr>
          <p:nvPr>
            <p:ph idx="1"/>
          </p:nvPr>
        </p:nvSpPr>
        <p:spPr>
          <a:xfrm>
            <a:off x="396732" y="2197297"/>
            <a:ext cx="8436253" cy="4089203"/>
          </a:xfrm>
        </p:spPr>
        <p:txBody>
          <a:bodyPr vert="horz" lIns="91440" tIns="45720" rIns="91440" bIns="45720" rtlCol="0" anchor="t">
            <a:normAutofit/>
          </a:bodyPr>
          <a:lstStyle/>
          <a:p>
            <a:r>
              <a:rPr lang="en-US">
                <a:latin typeface="Times New Roman"/>
                <a:cs typeface="Times New Roman"/>
              </a:rPr>
              <a:t>Reconfigured the main routers into a triangle pattern. </a:t>
            </a:r>
          </a:p>
          <a:p>
            <a:r>
              <a:rPr lang="en-US">
                <a:latin typeface="Times New Roman"/>
                <a:cs typeface="Times New Roman"/>
              </a:rPr>
              <a:t>Servers: static IPs and firewalls. </a:t>
            </a:r>
          </a:p>
          <a:p>
            <a:r>
              <a:rPr lang="en-US">
                <a:latin typeface="Times New Roman"/>
                <a:cs typeface="Times New Roman"/>
              </a:rPr>
              <a:t>DHCP IPs for doctors, patients and staff.</a:t>
            </a:r>
          </a:p>
          <a:p>
            <a:r>
              <a:rPr lang="en-US">
                <a:latin typeface="Times New Roman"/>
                <a:cs typeface="Times New Roman"/>
              </a:rPr>
              <a:t>Added ACLs restrict intranet access between offices.</a:t>
            </a:r>
          </a:p>
          <a:p>
            <a:r>
              <a:rPr lang="en-US">
                <a:latin typeface="Times New Roman"/>
                <a:cs typeface="Times New Roman"/>
              </a:rPr>
              <a:t>A firewall is configured between outside traffic and the inner network.</a:t>
            </a:r>
          </a:p>
          <a:p>
            <a:endParaRPr lang="en-US">
              <a:latin typeface="Times New Roman"/>
              <a:cs typeface="Times New Roman"/>
            </a:endParaRPr>
          </a:p>
          <a:p>
            <a:endParaRPr lang="en-US"/>
          </a:p>
          <a:p>
            <a:endParaRPr lang="en-US"/>
          </a:p>
        </p:txBody>
      </p:sp>
      <p:pic>
        <p:nvPicPr>
          <p:cNvPr id="4" name="Picture 3" descr="Top view of wood desk with the plant, white keyboard, coffee in a white mug, notebook, and pen">
            <a:extLst>
              <a:ext uri="{FF2B5EF4-FFF2-40B4-BE49-F238E27FC236}">
                <a16:creationId xmlns:a16="http://schemas.microsoft.com/office/drawing/2014/main" id="{F302E590-C80E-F4BA-7D14-9E0FBB1B205F}"/>
              </a:ext>
            </a:extLst>
          </p:cNvPr>
          <p:cNvPicPr>
            <a:picLocks noChangeAspect="1"/>
          </p:cNvPicPr>
          <p:nvPr/>
        </p:nvPicPr>
        <p:blipFill>
          <a:blip r:embed="rId3"/>
          <a:srcRect l="31918" r="31948" b="-1"/>
          <a:stretch>
            <a:fillRect/>
          </a:stretch>
        </p:blipFill>
        <p:spPr>
          <a:xfrm>
            <a:off x="9677400" y="10"/>
            <a:ext cx="2514601" cy="6857990"/>
          </a:xfrm>
          <a:prstGeom prst="rect">
            <a:avLst/>
          </a:prstGeom>
        </p:spPr>
      </p:pic>
    </p:spTree>
    <p:extLst>
      <p:ext uri="{BB962C8B-B14F-4D97-AF65-F5344CB8AC3E}">
        <p14:creationId xmlns:p14="http://schemas.microsoft.com/office/powerpoint/2010/main" val="669165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BF0C053-9B8D-5C9D-EF48-DD56F99F32CD}"/>
            </a:ext>
          </a:extLst>
        </p:cNvPr>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C55E2F08-478D-E8F4-5ECF-06F6F0BF39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2E19D9-35AB-465C-2839-9216C3A9558B}"/>
              </a:ext>
            </a:extLst>
          </p:cNvPr>
          <p:cNvSpPr>
            <a:spLocks noGrp="1"/>
          </p:cNvSpPr>
          <p:nvPr>
            <p:ph type="title"/>
          </p:nvPr>
        </p:nvSpPr>
        <p:spPr>
          <a:xfrm>
            <a:off x="-2634" y="283267"/>
            <a:ext cx="11914564" cy="2049620"/>
          </a:xfrm>
        </p:spPr>
        <p:txBody>
          <a:bodyPr>
            <a:normAutofit/>
          </a:bodyPr>
          <a:lstStyle/>
          <a:p>
            <a:r>
              <a:rPr lang="en-US"/>
              <a:t>The realistic updated IP Configurations </a:t>
            </a:r>
          </a:p>
        </p:txBody>
      </p:sp>
      <p:cxnSp>
        <p:nvCxnSpPr>
          <p:cNvPr id="7" name="Straight Connector 6">
            <a:extLst>
              <a:ext uri="{FF2B5EF4-FFF2-40B4-BE49-F238E27FC236}">
                <a16:creationId xmlns:a16="http://schemas.microsoft.com/office/drawing/2014/main" id="{5139F702-46FD-0F28-3381-9A3687BEDE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29948B91-58BC-4173-28D7-4759970BD6F2}"/>
              </a:ext>
            </a:extLst>
          </p:cNvPr>
          <p:cNvSpPr/>
          <p:nvPr/>
        </p:nvSpPr>
        <p:spPr>
          <a:xfrm>
            <a:off x="3580086" y="1002821"/>
            <a:ext cx="5014159" cy="5702888"/>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descr="A table of information with numbers and letters&#10;&#10;AI-generated content may be incorrect.">
            <a:extLst>
              <a:ext uri="{FF2B5EF4-FFF2-40B4-BE49-F238E27FC236}">
                <a16:creationId xmlns:a16="http://schemas.microsoft.com/office/drawing/2014/main" id="{CFC1C936-1D0D-8F4A-E968-BAC87225E198}"/>
              </a:ext>
            </a:extLst>
          </p:cNvPr>
          <p:cNvPicPr>
            <a:picLocks noGrp="1" noChangeAspect="1"/>
          </p:cNvPicPr>
          <p:nvPr>
            <p:ph idx="1"/>
          </p:nvPr>
        </p:nvPicPr>
        <p:blipFill>
          <a:blip r:embed="rId3"/>
          <a:stretch>
            <a:fillRect/>
          </a:stretch>
        </p:blipFill>
        <p:spPr>
          <a:xfrm>
            <a:off x="3780993" y="1137510"/>
            <a:ext cx="4639269" cy="5399892"/>
          </a:xfrm>
          <a:prstGeom prst="rect">
            <a:avLst/>
          </a:prstGeom>
        </p:spPr>
      </p:pic>
    </p:spTree>
    <p:extLst>
      <p:ext uri="{BB962C8B-B14F-4D97-AF65-F5344CB8AC3E}">
        <p14:creationId xmlns:p14="http://schemas.microsoft.com/office/powerpoint/2010/main" val="42667402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9FC254-B4CB-F3CB-629F-0B19E8E55501}"/>
            </a:ext>
          </a:extLst>
        </p:cNvPr>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B49E0E74-459F-4A85-4CE7-10E5D1890E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89AB896-C244-A528-68FB-0F9CA1BB7E4F}"/>
              </a:ext>
            </a:extLst>
          </p:cNvPr>
          <p:cNvSpPr/>
          <p:nvPr/>
        </p:nvSpPr>
        <p:spPr>
          <a:xfrm>
            <a:off x="2250075" y="1608766"/>
            <a:ext cx="7724371" cy="4964011"/>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C6D901-17F2-8286-2B49-EA3B6DEBE899}"/>
              </a:ext>
            </a:extLst>
          </p:cNvPr>
          <p:cNvSpPr>
            <a:spLocks noGrp="1"/>
          </p:cNvSpPr>
          <p:nvPr>
            <p:ph type="title"/>
          </p:nvPr>
        </p:nvSpPr>
        <p:spPr>
          <a:xfrm>
            <a:off x="-2634" y="283267"/>
            <a:ext cx="11914564" cy="2049620"/>
          </a:xfrm>
        </p:spPr>
        <p:txBody>
          <a:bodyPr>
            <a:normAutofit/>
          </a:bodyPr>
          <a:lstStyle/>
          <a:p>
            <a:r>
              <a:rPr lang="en-US"/>
              <a:t>The realistic updated IP Configurations </a:t>
            </a:r>
            <a:br>
              <a:rPr lang="en-US"/>
            </a:br>
            <a:endParaRPr lang="en-US"/>
          </a:p>
        </p:txBody>
      </p:sp>
      <p:cxnSp>
        <p:nvCxnSpPr>
          <p:cNvPr id="7" name="Straight Connector 6">
            <a:extLst>
              <a:ext uri="{FF2B5EF4-FFF2-40B4-BE49-F238E27FC236}">
                <a16:creationId xmlns:a16="http://schemas.microsoft.com/office/drawing/2014/main" id="{A6568354-A0CE-F0BD-04B6-2CB287CAB9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Content Placeholder 2" descr="A table with text and numbers&#10;&#10;AI-generated content may be incorrect.">
            <a:extLst>
              <a:ext uri="{FF2B5EF4-FFF2-40B4-BE49-F238E27FC236}">
                <a16:creationId xmlns:a16="http://schemas.microsoft.com/office/drawing/2014/main" id="{E64DBB03-F526-DF01-5561-BF9ED891FD83}"/>
              </a:ext>
            </a:extLst>
          </p:cNvPr>
          <p:cNvPicPr>
            <a:picLocks noGrp="1" noChangeAspect="1"/>
          </p:cNvPicPr>
          <p:nvPr>
            <p:ph idx="1"/>
          </p:nvPr>
        </p:nvPicPr>
        <p:blipFill>
          <a:blip r:embed="rId3"/>
          <a:stretch>
            <a:fillRect/>
          </a:stretch>
        </p:blipFill>
        <p:spPr>
          <a:xfrm>
            <a:off x="2423164" y="1710362"/>
            <a:ext cx="7345633" cy="4672361"/>
          </a:xfrm>
          <a:prstGeom prst="rect">
            <a:avLst/>
          </a:prstGeom>
        </p:spPr>
      </p:pic>
    </p:spTree>
    <p:extLst>
      <p:ext uri="{BB962C8B-B14F-4D97-AF65-F5344CB8AC3E}">
        <p14:creationId xmlns:p14="http://schemas.microsoft.com/office/powerpoint/2010/main" val="3586339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2691A1-3F58-C920-E781-FA86992AFD50}"/>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3227BDC9-FB18-487D-844E-9A6B39F8C1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5418F5-C501-85F6-CCA5-E2A648E3625E}"/>
              </a:ext>
            </a:extLst>
          </p:cNvPr>
          <p:cNvSpPr>
            <a:spLocks noGrp="1"/>
          </p:cNvSpPr>
          <p:nvPr>
            <p:ph type="title"/>
          </p:nvPr>
        </p:nvSpPr>
        <p:spPr>
          <a:xfrm>
            <a:off x="1088136" y="2235210"/>
            <a:ext cx="3807714" cy="3352789"/>
          </a:xfrm>
        </p:spPr>
        <p:txBody>
          <a:bodyPr anchor="t">
            <a:normAutofit/>
          </a:bodyPr>
          <a:lstStyle/>
          <a:p>
            <a:r>
              <a:rPr lang="en-US" sz="4000"/>
              <a:t>In a perfect world</a:t>
            </a:r>
          </a:p>
        </p:txBody>
      </p:sp>
      <p:cxnSp>
        <p:nvCxnSpPr>
          <p:cNvPr id="27" name="Straight Connector 26">
            <a:extLst>
              <a:ext uri="{FF2B5EF4-FFF2-40B4-BE49-F238E27FC236}">
                <a16:creationId xmlns:a16="http://schemas.microsoft.com/office/drawing/2014/main" id="{25BE18DF-459C-485A-834C-292AA6BB10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495" y="2337622"/>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28" name="Content Placeholder 3">
            <a:extLst>
              <a:ext uri="{FF2B5EF4-FFF2-40B4-BE49-F238E27FC236}">
                <a16:creationId xmlns:a16="http://schemas.microsoft.com/office/drawing/2014/main" id="{8BB9350A-AC7E-9315-4256-4887836B73CC}"/>
              </a:ext>
            </a:extLst>
          </p:cNvPr>
          <p:cNvGraphicFramePr>
            <a:graphicFrameLocks noGrp="1"/>
          </p:cNvGraphicFramePr>
          <p:nvPr>
            <p:ph idx="1"/>
            <p:extLst>
              <p:ext uri="{D42A27DB-BD31-4B8C-83A1-F6EECF244321}">
                <p14:modId xmlns:p14="http://schemas.microsoft.com/office/powerpoint/2010/main" val="2020790055"/>
              </p:ext>
            </p:extLst>
          </p:nvPr>
        </p:nvGraphicFramePr>
        <p:xfrm>
          <a:off x="5524500" y="571500"/>
          <a:ext cx="6096000" cy="5714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60782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3AAE6A-47D6-DF2B-FBB0-5D66F01C3312}"/>
            </a:ext>
          </a:extLst>
        </p:cNvPr>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7F81512A-8953-7649-CD2C-A1D41E65CC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3F51B9-BC56-849B-1378-9AE7F034907D}"/>
              </a:ext>
            </a:extLst>
          </p:cNvPr>
          <p:cNvSpPr>
            <a:spLocks noGrp="1"/>
          </p:cNvSpPr>
          <p:nvPr>
            <p:ph type="title"/>
          </p:nvPr>
        </p:nvSpPr>
        <p:spPr>
          <a:xfrm>
            <a:off x="-2634" y="283267"/>
            <a:ext cx="9258450" cy="2049620"/>
          </a:xfrm>
        </p:spPr>
        <p:txBody>
          <a:bodyPr>
            <a:normAutofit/>
          </a:bodyPr>
          <a:lstStyle/>
          <a:p>
            <a:r>
              <a:rPr lang="en-US"/>
              <a:t>The ideal network</a:t>
            </a:r>
          </a:p>
        </p:txBody>
      </p:sp>
      <p:cxnSp>
        <p:nvCxnSpPr>
          <p:cNvPr id="7" name="Straight Connector 6">
            <a:extLst>
              <a:ext uri="{FF2B5EF4-FFF2-40B4-BE49-F238E27FC236}">
                <a16:creationId xmlns:a16="http://schemas.microsoft.com/office/drawing/2014/main" id="{C2EA6C21-1D35-5949-5868-71469C9A8A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A5D54A33-793E-D8B0-87A2-513998DF4A91}"/>
              </a:ext>
            </a:extLst>
          </p:cNvPr>
          <p:cNvSpPr/>
          <p:nvPr/>
        </p:nvSpPr>
        <p:spPr>
          <a:xfrm>
            <a:off x="-1" y="1132112"/>
            <a:ext cx="12191999" cy="5725886"/>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Content Placeholder 2" descr="A diagram of a network&#10;&#10;AI-generated content may be incorrect.">
            <a:extLst>
              <a:ext uri="{FF2B5EF4-FFF2-40B4-BE49-F238E27FC236}">
                <a16:creationId xmlns:a16="http://schemas.microsoft.com/office/drawing/2014/main" id="{A7C208EF-6953-6449-8333-56CA40424E5D}"/>
              </a:ext>
            </a:extLst>
          </p:cNvPr>
          <p:cNvPicPr>
            <a:picLocks noGrp="1" noChangeAspect="1"/>
          </p:cNvPicPr>
          <p:nvPr>
            <p:ph idx="1"/>
          </p:nvPr>
        </p:nvPicPr>
        <p:blipFill>
          <a:blip r:embed="rId2"/>
          <a:stretch>
            <a:fillRect/>
          </a:stretch>
        </p:blipFill>
        <p:spPr>
          <a:xfrm>
            <a:off x="114196" y="1185040"/>
            <a:ext cx="11957730" cy="5623975"/>
          </a:xfrm>
          <a:prstGeom prst="rect">
            <a:avLst/>
          </a:prstGeom>
        </p:spPr>
      </p:pic>
    </p:spTree>
    <p:extLst>
      <p:ext uri="{BB962C8B-B14F-4D97-AF65-F5344CB8AC3E}">
        <p14:creationId xmlns:p14="http://schemas.microsoft.com/office/powerpoint/2010/main" val="1203886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BA1A4-F54C-5163-5664-B71939E5C42D}"/>
              </a:ext>
            </a:extLst>
          </p:cNvPr>
          <p:cNvSpPr>
            <a:spLocks noGrp="1"/>
          </p:cNvSpPr>
          <p:nvPr>
            <p:ph type="title"/>
          </p:nvPr>
        </p:nvSpPr>
        <p:spPr>
          <a:xfrm>
            <a:off x="920048" y="92921"/>
            <a:ext cx="11110587" cy="1294228"/>
          </a:xfrm>
        </p:spPr>
        <p:txBody>
          <a:bodyPr/>
          <a:lstStyle/>
          <a:p>
            <a:r>
              <a:rPr lang="en-US" sz="4000"/>
              <a:t>Network devices, Uses &amp; Cost (Realistic)</a:t>
            </a:r>
            <a:endParaRPr lang="en-US" sz="4000" b="0"/>
          </a:p>
          <a:p>
            <a:endParaRPr lang="en-US"/>
          </a:p>
        </p:txBody>
      </p:sp>
      <p:sp>
        <p:nvSpPr>
          <p:cNvPr id="5" name="Rectangle 4">
            <a:extLst>
              <a:ext uri="{FF2B5EF4-FFF2-40B4-BE49-F238E27FC236}">
                <a16:creationId xmlns:a16="http://schemas.microsoft.com/office/drawing/2014/main" id="{9FFFEE40-1427-BF21-D885-6652A0331175}"/>
              </a:ext>
            </a:extLst>
          </p:cNvPr>
          <p:cNvSpPr/>
          <p:nvPr/>
        </p:nvSpPr>
        <p:spPr>
          <a:xfrm>
            <a:off x="2229055" y="1341467"/>
            <a:ext cx="7998372" cy="510362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FF2D7B08-B920-B380-EE42-18765362833F}"/>
              </a:ext>
            </a:extLst>
          </p:cNvPr>
          <p:cNvPicPr>
            <a:picLocks noGrp="1" noChangeAspect="1"/>
          </p:cNvPicPr>
          <p:nvPr>
            <p:ph idx="1"/>
          </p:nvPr>
        </p:nvPicPr>
        <p:blipFill>
          <a:blip r:embed="rId3"/>
          <a:stretch>
            <a:fillRect/>
          </a:stretch>
        </p:blipFill>
        <p:spPr>
          <a:xfrm>
            <a:off x="2549528" y="1696984"/>
            <a:ext cx="7369774" cy="4387810"/>
          </a:xfrm>
          <a:prstGeom prst="rect">
            <a:avLst/>
          </a:prstGeom>
        </p:spPr>
      </p:pic>
    </p:spTree>
    <p:extLst>
      <p:ext uri="{BB962C8B-B14F-4D97-AF65-F5344CB8AC3E}">
        <p14:creationId xmlns:p14="http://schemas.microsoft.com/office/powerpoint/2010/main" val="1547594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5E48E-7DD5-080C-F9BE-1A203CB79EA0}"/>
            </a:ext>
          </a:extLst>
        </p:cNvPr>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F622941C-A73D-86B3-7684-771BB445AE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53D3C61-B278-AB94-3FC9-0A500844D9A0}"/>
              </a:ext>
            </a:extLst>
          </p:cNvPr>
          <p:cNvSpPr/>
          <p:nvPr/>
        </p:nvSpPr>
        <p:spPr>
          <a:xfrm>
            <a:off x="5205" y="1137919"/>
            <a:ext cx="12196955" cy="5004048"/>
          </a:xfrm>
          <a:prstGeom prst="rect">
            <a:avLst/>
          </a:prstGeom>
          <a:solidFill>
            <a:schemeClr val="tx1"/>
          </a:solidFill>
          <a:effectLst>
            <a:outerShdw blurRad="63500" dist="38100" dir="2700000">
              <a:srgbClr val="252747">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5E9F64-453C-AAD7-FBA9-2743D7674333}"/>
              </a:ext>
            </a:extLst>
          </p:cNvPr>
          <p:cNvSpPr>
            <a:spLocks noGrp="1"/>
          </p:cNvSpPr>
          <p:nvPr>
            <p:ph type="title"/>
          </p:nvPr>
        </p:nvSpPr>
        <p:spPr>
          <a:xfrm>
            <a:off x="-2634" y="283267"/>
            <a:ext cx="11805134" cy="2049620"/>
          </a:xfrm>
        </p:spPr>
        <p:txBody>
          <a:bodyPr>
            <a:normAutofit/>
          </a:bodyPr>
          <a:lstStyle/>
          <a:p>
            <a:r>
              <a:rPr lang="en-US" sz="4000"/>
              <a:t>Network devices, Uses &amp; Cost (Hypothetical)</a:t>
            </a:r>
          </a:p>
        </p:txBody>
      </p:sp>
      <p:cxnSp>
        <p:nvCxnSpPr>
          <p:cNvPr id="7" name="Straight Connector 6">
            <a:extLst>
              <a:ext uri="{FF2B5EF4-FFF2-40B4-BE49-F238E27FC236}">
                <a16:creationId xmlns:a16="http://schemas.microsoft.com/office/drawing/2014/main" id="{672DA0F9-8EDC-6DDD-B34E-4195D9CFED5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E9B98E85-F187-703B-9214-149C89D0C441}"/>
              </a:ext>
            </a:extLst>
          </p:cNvPr>
          <p:cNvSpPr>
            <a:spLocks noGrp="1"/>
          </p:cNvSpPr>
          <p:nvPr>
            <p:ph idx="1"/>
          </p:nvPr>
        </p:nvSpPr>
        <p:spPr>
          <a:xfrm>
            <a:off x="396732" y="2197297"/>
            <a:ext cx="8436253" cy="4089203"/>
          </a:xfrm>
        </p:spPr>
        <p:txBody>
          <a:bodyPr vert="horz" lIns="91440" tIns="45720" rIns="91440" bIns="45720" rtlCol="0" anchor="t">
            <a:normAutofit/>
          </a:bodyPr>
          <a:lstStyle/>
          <a:p>
            <a:pPr marL="0" indent="0">
              <a:buNone/>
            </a:pPr>
            <a:endParaRPr lang="en-US"/>
          </a:p>
          <a:p>
            <a:endParaRPr lang="en-US"/>
          </a:p>
        </p:txBody>
      </p:sp>
      <p:pic>
        <p:nvPicPr>
          <p:cNvPr id="5" name="Picture 4" descr="A table with numbers and letters&#10;&#10;AI-generated content may be incorrect.">
            <a:extLst>
              <a:ext uri="{FF2B5EF4-FFF2-40B4-BE49-F238E27FC236}">
                <a16:creationId xmlns:a16="http://schemas.microsoft.com/office/drawing/2014/main" id="{D2A3EA82-914B-4926-D0EF-CD11BC7B9EB0}"/>
              </a:ext>
            </a:extLst>
          </p:cNvPr>
          <p:cNvPicPr>
            <a:picLocks noChangeAspect="1"/>
          </p:cNvPicPr>
          <p:nvPr/>
        </p:nvPicPr>
        <p:blipFill>
          <a:blip r:embed="rId3"/>
          <a:stretch>
            <a:fillRect/>
          </a:stretch>
        </p:blipFill>
        <p:spPr>
          <a:xfrm>
            <a:off x="102174" y="1302324"/>
            <a:ext cx="11985858" cy="4686276"/>
          </a:xfrm>
          <a:prstGeom prst="rect">
            <a:avLst/>
          </a:prstGeom>
        </p:spPr>
      </p:pic>
    </p:spTree>
    <p:extLst>
      <p:ext uri="{BB962C8B-B14F-4D97-AF65-F5344CB8AC3E}">
        <p14:creationId xmlns:p14="http://schemas.microsoft.com/office/powerpoint/2010/main" val="598659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D39582-C334-2EAC-1D27-51A7F1561656}"/>
            </a:ext>
          </a:extLst>
        </p:cNvPr>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B35463D0-A008-6E18-CC71-A947F00F8D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6C8A61-CBB9-4914-0135-B60F11309663}"/>
              </a:ext>
            </a:extLst>
          </p:cNvPr>
          <p:cNvSpPr>
            <a:spLocks noGrp="1"/>
          </p:cNvSpPr>
          <p:nvPr>
            <p:ph type="title"/>
          </p:nvPr>
        </p:nvSpPr>
        <p:spPr>
          <a:xfrm>
            <a:off x="-2634" y="283267"/>
            <a:ext cx="9258450" cy="2049620"/>
          </a:xfrm>
        </p:spPr>
        <p:txBody>
          <a:bodyPr>
            <a:normAutofit/>
          </a:bodyPr>
          <a:lstStyle/>
          <a:p>
            <a:r>
              <a:rPr lang="en-US"/>
              <a:t>FAQs</a:t>
            </a:r>
          </a:p>
        </p:txBody>
      </p:sp>
      <p:cxnSp>
        <p:nvCxnSpPr>
          <p:cNvPr id="7" name="Straight Connector 6">
            <a:extLst>
              <a:ext uri="{FF2B5EF4-FFF2-40B4-BE49-F238E27FC236}">
                <a16:creationId xmlns:a16="http://schemas.microsoft.com/office/drawing/2014/main" id="{FA4B760F-876F-D576-F0B6-C5DC889824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3F40D250-D78C-8DD7-3AAE-B59599EF0257}"/>
              </a:ext>
            </a:extLst>
          </p:cNvPr>
          <p:cNvSpPr>
            <a:spLocks noGrp="1"/>
          </p:cNvSpPr>
          <p:nvPr>
            <p:ph idx="1"/>
          </p:nvPr>
        </p:nvSpPr>
        <p:spPr/>
        <p:txBody>
          <a:bodyPr vert="horz" lIns="91440" tIns="45720" rIns="91440" bIns="45720" rtlCol="0" anchor="t">
            <a:normAutofit/>
          </a:bodyPr>
          <a:lstStyle/>
          <a:p>
            <a:pPr>
              <a:buFont typeface="Calibri" panose="020B0504020202020204" pitchFamily="34" charset="0"/>
              <a:buChar char="-"/>
            </a:pPr>
            <a:r>
              <a:rPr lang="en-US" sz="1600">
                <a:highlight>
                  <a:srgbClr val="FFFFFF"/>
                </a:highlight>
                <a:latin typeface="Times New Roman"/>
                <a:cs typeface="Times New Roman"/>
              </a:rPr>
              <a:t>Since the current network is "shaky" (low latency) this issue will be resolved by all the upgrades being made.</a:t>
            </a:r>
          </a:p>
          <a:p>
            <a:pPr>
              <a:buFont typeface="Calibri" panose="020B0504020202020204" pitchFamily="34" charset="0"/>
              <a:buChar char="-"/>
            </a:pPr>
            <a:r>
              <a:rPr lang="en-US" sz="1600">
                <a:highlight>
                  <a:srgbClr val="FFFFFF"/>
                </a:highlight>
                <a:latin typeface="Times New Roman"/>
                <a:cs typeface="Times New Roman"/>
              </a:rPr>
              <a:t>Workstations will automatically log off a user after a time set by the client.</a:t>
            </a:r>
          </a:p>
          <a:p>
            <a:pPr>
              <a:buFont typeface="Calibri" panose="020B0504020202020204" pitchFamily="34" charset="0"/>
              <a:buChar char="-"/>
            </a:pPr>
            <a:r>
              <a:rPr lang="en-US" sz="1600">
                <a:highlight>
                  <a:srgbClr val="FFFFFF"/>
                </a:highlight>
                <a:latin typeface="Times New Roman"/>
                <a:cs typeface="Times New Roman"/>
              </a:rPr>
              <a:t>For portable devices; we will use RADIUS software on the wireless router, require login credentials to the Wi-Fi, and all devices MUST HAVE a password, MFA, encryption and a screen lock.</a:t>
            </a:r>
          </a:p>
          <a:p>
            <a:pPr>
              <a:buFont typeface="Calibri" panose="020B0504020202020204" pitchFamily="34" charset="0"/>
              <a:buChar char="-"/>
            </a:pPr>
            <a:r>
              <a:rPr lang="en-US" sz="1600">
                <a:highlight>
                  <a:srgbClr val="FFFFFF"/>
                </a:highlight>
                <a:latin typeface="Times New Roman"/>
                <a:cs typeface="Times New Roman"/>
              </a:rPr>
              <a:t> Under </a:t>
            </a:r>
            <a:r>
              <a:rPr lang="en-US" sz="1600" b="1" i="1">
                <a:highlight>
                  <a:srgbClr val="FFFFFF"/>
                </a:highlight>
                <a:latin typeface="Times New Roman"/>
                <a:cs typeface="Times New Roman"/>
              </a:rPr>
              <a:t>no</a:t>
            </a:r>
            <a:r>
              <a:rPr lang="en-US" sz="1600">
                <a:highlight>
                  <a:srgbClr val="FFFFFF"/>
                </a:highlight>
                <a:latin typeface="Times New Roman"/>
                <a:cs typeface="Times New Roman"/>
              </a:rPr>
              <a:t> circumstances, will any Protected Health Information (PHI) be able to be stored on personal devices. </a:t>
            </a:r>
          </a:p>
          <a:p>
            <a:pPr>
              <a:buFont typeface="Calibri" panose="020B0504020202020204" pitchFamily="34" charset="0"/>
              <a:buChar char="-"/>
            </a:pPr>
            <a:r>
              <a:rPr lang="en-US" sz="1600">
                <a:highlight>
                  <a:srgbClr val="FFFFFF"/>
                </a:highlight>
                <a:latin typeface="Times New Roman"/>
                <a:cs typeface="Times New Roman"/>
              </a:rPr>
              <a:t>The IT professional will be able to run audit logs, and they will be retained for 6 months. </a:t>
            </a:r>
          </a:p>
          <a:p>
            <a:pPr>
              <a:buFont typeface="Calibri" panose="020B0504020202020204" pitchFamily="34" charset="0"/>
              <a:buChar char="-"/>
            </a:pPr>
            <a:r>
              <a:rPr lang="en-US" sz="1600">
                <a:highlight>
                  <a:srgbClr val="FFFFFF"/>
                </a:highlight>
                <a:latin typeface="Times New Roman"/>
                <a:cs typeface="Times New Roman"/>
              </a:rPr>
              <a:t>With a future expansion, it'll allow for a better back up plan and redundancies. </a:t>
            </a:r>
          </a:p>
        </p:txBody>
      </p:sp>
    </p:spTree>
    <p:extLst>
      <p:ext uri="{BB962C8B-B14F-4D97-AF65-F5344CB8AC3E}">
        <p14:creationId xmlns:p14="http://schemas.microsoft.com/office/powerpoint/2010/main" val="2432997282"/>
      </p:ext>
    </p:extLst>
  </p:cSld>
  <p:clrMapOvr>
    <a:masterClrMapping/>
  </p:clrMapOvr>
</p:sld>
</file>

<file path=ppt/theme/theme1.xml><?xml version="1.0" encoding="utf-8"?>
<a:theme xmlns:a="http://schemas.openxmlformats.org/drawingml/2006/main" name="BjornVTI">
  <a:themeElements>
    <a:clrScheme name="Bjorn">
      <a:dk1>
        <a:sysClr val="windowText" lastClr="000000"/>
      </a:dk1>
      <a:lt1>
        <a:sysClr val="window" lastClr="FFFFFF"/>
      </a:lt1>
      <a:dk2>
        <a:srgbClr val="252747"/>
      </a:dk2>
      <a:lt2>
        <a:srgbClr val="ECE4E9"/>
      </a:lt2>
      <a:accent1>
        <a:srgbClr val="736EB6"/>
      </a:accent1>
      <a:accent2>
        <a:srgbClr val="AB5991"/>
      </a:accent2>
      <a:accent3>
        <a:srgbClr val="AC9F39"/>
      </a:accent3>
      <a:accent4>
        <a:srgbClr val="756029"/>
      </a:accent4>
      <a:accent5>
        <a:srgbClr val="E87850"/>
      </a:accent5>
      <a:accent6>
        <a:srgbClr val="C6922A"/>
      </a:accent6>
      <a:hlink>
        <a:srgbClr val="736EB6"/>
      </a:hlink>
      <a:folHlink>
        <a:srgbClr val="AB5991"/>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VTI" id="{D01443FD-65CF-4AEF-9B9D-4466C96F9785}" vid="{36EF4262-385E-40E6-B073-FB18FD98BF4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464</Words>
  <Application>Microsoft Office PowerPoint</Application>
  <PresentationFormat>Widescreen</PresentationFormat>
  <Paragraphs>51</Paragraphs>
  <Slides>12</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Neue Haas Grotesk Text Pro</vt:lpstr>
      <vt:lpstr>Times New Roman</vt:lpstr>
      <vt:lpstr>BjornVTI</vt:lpstr>
      <vt:lpstr>Securing the Maternity Ward Network: A HIPAA-Focused Redesign</vt:lpstr>
      <vt:lpstr>The original network</vt:lpstr>
      <vt:lpstr>Issues with the original network</vt:lpstr>
      <vt:lpstr>The upgraded network</vt:lpstr>
      <vt:lpstr>What we changed to the network</vt:lpstr>
      <vt:lpstr>The realistic updated IP Configurations </vt:lpstr>
      <vt:lpstr>The realistic updated IP Configurations  </vt:lpstr>
      <vt:lpstr>In a perfect world</vt:lpstr>
      <vt:lpstr>The ideal network</vt:lpstr>
      <vt:lpstr>Network devices, Uses &amp; Cost (Realistic) </vt:lpstr>
      <vt:lpstr>Network devices, Uses &amp; Cost (Hypothetical)</vt:lpstr>
      <vt:lpstr>FAQs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Thomas Mulloy</dc:creator>
  <cp:lastModifiedBy>NV-Williams, Diamond (Northern Virginia)</cp:lastModifiedBy>
  <cp:revision>2</cp:revision>
  <dcterms:created xsi:type="dcterms:W3CDTF">2016-06-29T17:12:42Z</dcterms:created>
  <dcterms:modified xsi:type="dcterms:W3CDTF">2026-05-28T21:44:56Z</dcterms:modified>
</cp:coreProperties>
</file>